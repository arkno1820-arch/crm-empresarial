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charts/chart1.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Incidentes</c:v>
                </c:pt>
              </c:strCache>
            </c:strRef>
          </c:tx>
          <c:spPr>
            <a:solidFill>
              <a:srgbClr val="5FD3C8"/>
            </a:solidFill>
            <a:effectLst/>
          </c:spPr>
          <c:invertIfNegative val="0"/>
          <c:dLbls>
            <c:numFmt formatCode="#,##0" sourceLinked="0"/>
            <c:txPr>
              <a:bodyPr/>
              <a:lstStyle/>
              <a:p>
                <a:pPr>
                  <a:defRPr b="0" i="0" strike="noStrike" sz="1300" u="none">
                    <a:solidFill>
                      <a:srgbClr val="E8F1F2"/>
                    </a:solidFill>
                    <a:latin typeface="Calibri"/>
                  </a:defRPr>
                </a:pPr>
              </a:p>
            </c:txPr>
            <c:showLegendKey val="0"/>
            <c:showVal val="1"/>
            <c:showCatName val="0"/>
            <c:showSerName val="0"/>
            <c:showPercent val="0"/>
            <c:showBubbleSize val="0"/>
            <c:showLeaderLines val="0"/>
          </c:dLbls>
          <c:cat>
            <c:multiLvlStrRef>
              <c:f>Sheet1!$A$2:$A$9</c:f>
              <c:multiLvlStrCache>
                <c:ptCount val="8"/>
                <c:lvl>
                  <c:pt idx="0">
                    <c:v>Red y aislamiento</c:v>
                  </c:pt>
                  <c:pt idx="1">
                    <c:v>Configuración e IaC</c:v>
                  </c:pt>
                  <c:pt idx="2">
                    <c:v>Virtualización y hardware</c:v>
                  </c:pt>
                  <c:pt idx="3">
                    <c:v>Monitoreo</c:v>
                  </c:pt>
                  <c:pt idx="4">
                    <c:v>Nube</c:v>
                  </c:pt>
                  <c:pt idx="5">
                    <c:v>Alta disponibilidad</c:v>
                  </c:pt>
                  <c:pt idx="6">
                    <c:v>Aplicación</c:v>
                  </c:pt>
                  <c:pt idx="7">
                    <c:v>Operación</c:v>
                  </c:pt>
                </c:lvl>
              </c:multiLvlStrCache>
            </c:multiLvlStrRef>
          </c:cat>
          <c:val>
            <c:numRef>
              <c:f>Sheet1!$B$2:$B$9</c:f>
              <c:numCache>
                <c:formatCode>General</c:formatCode>
                <c:ptCount val="8"/>
                <c:pt idx="0">
                  <c:v>6</c:v>
                </c:pt>
                <c:pt idx="1">
                  <c:v>6</c:v>
                </c:pt>
                <c:pt idx="2">
                  <c:v>4</c:v>
                </c:pt>
                <c:pt idx="3">
                  <c:v>4</c:v>
                </c:pt>
                <c:pt idx="4">
                  <c:v>3</c:v>
                </c:pt>
                <c:pt idx="5">
                  <c:v>4</c:v>
                </c:pt>
                <c:pt idx="6">
                  <c:v>3</c:v>
                </c:pt>
                <c:pt idx="7">
                  <c:v>3</c:v>
                </c:pt>
              </c:numCache>
            </c:numRef>
          </c:val>
        </c:ser>
        <c:dLbls>
          <c:numFmt formatCode="#,##0" sourceLinked="0"/>
          <c:txPr>
            <a:bodyPr/>
            <a:lstStyle/>
            <a:p>
              <a:pPr>
                <a:defRPr b="0" i="0" strike="noStrike" sz="1300" u="none">
                  <a:solidFill>
                    <a:srgbClr val="E8F1F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E8F1F2"/>
                </a:solidFill>
                <a:latin typeface="Calibri"/>
              </a:defRPr>
            </a:pPr>
            <a:endParaRPr lang="en-US"/>
          </a:p>
        </c:txPr>
        <c:crossAx val="2094734552"/>
        <c:crosses val="autoZero"/>
        <c:auto val="1"/>
        <c:lblAlgn val="ctr"/>
        <c:noMultiLvlLbl val="1"/>
      </c:catAx>
      <c:valAx>
        <c:axId val="2094734552"/>
        <c:scaling>
          <c:orientation val="minMax"/>
          <c:max val="8"/>
        </c:scaling>
        <c:delete val="0"/>
        <c:axPos val="b"/>
        <c:majorGridlines>
          <c:spPr>
            <a:ln w="6350" cap="flat">
              <a:solidFill>
                <a:srgbClr val="3D5C6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9DB2BA"/>
                </a:solidFill>
                <a:latin typeface="Arial"/>
              </a:defRPr>
            </a:pPr>
            <a:endParaRPr lang="en-US"/>
          </a:p>
        </c:txPr>
        <c:crossAx val="2094734554"/>
        <c:crosses val="autoZero"/>
        <c:crossBetween val="between"/>
      </c:valAx>
      <c:spPr>
        <a:solidFill>
          <a:srgbClr val="182A34"/>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Voy a contarles cómo una necesidad real del Centro CHIC dio origen a una infraestructura completa de redes, virtualización y continuidad. El CRM es el caso de uso; el foco de la práctica es la infraestructura que lo sostiene, segura y disponible.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mapa de la presentación. Partimos del problema real de CHIC y de la primera solución de software. Luego la infraestructura: Proxmox, la red y las máquinas. Después la redundancia, la operación y la nube. Y cerramos con las pruebas de estrés, donde se ve en detalle qué se ajustó y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Centro CHIC necesitaba centralizar la gestión del personal, el calendario, el inventario y las reservas; cada área trabajaba por su lado. Además hay datos de salud de los trabajadores, protegidos por la Ley 21.719. La primera respuesta fue de software: un CRM propio, bajo control de CHIC.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construyó un CRM con seis módulos —empleados, calendario, inventario, reservas, chat y accesos— detrás de un portal único, con cuatro roles de usuario. Se empaquetó con Docker y microservicios porque es el estándar actual de la industria para este tipo de sistemas: rápido de construir, fácil de escalar por partes.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archivo describe nueve contenedores: el frontend, el gateway Nginx como puerta única, seis microservicios y la base PostgreSQL, con el patrón «base de datos por servicio». Esta forma de armar el sistema —servicios sin estado, independientes entre sí— es exactamente lo que después permitió repartirlo entre máquinas distintas.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CRM no es un prototipo: es una aplicación real en uso, con datos sensibles que proteger. Esa necesidad de disponibilidad y protección es la que dio origen a todo lo que sigue.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resuelve cómo empaquetar y ejecutar el software, pero no resuelve qué pasa si el equipo falla, ni aísla la red, ni replica la base de datos, ni respalda automáticamente. Esa segunda necesidad —de continuidad, no de código— es la que llevó a virtualizar con Proxmox y a construir la infraestructura que se presenta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final fue virtualizar con Proxmox: separar el CRM en máquinas y contenedores especializados, con red aislada, bordes y núcleos duplicados, monitoreo aparte, respaldo cifrado y una copia fuera del propio equipo. El CRM que se vio recién es el mismo; lo que cambió es todo lo que hay debajo, y es el tema del resto de esta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etapa: dónde y cómo vive todo. Este es, junto con la nube, uno de los focos más fuertes de esta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metodología fue instrucción de la jefatura del proyecto: diseñar y validar primero en un entorno de simulación, y después migrar al servidor físico de CHIC. Es la misma lógica de un simulador de vuelo antes de volar. Estamos al cierre de esa validación.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analogía simple: el equipo físico es el terreno, Proxmox es la estructura que reparte los pisos, y cada máquina es un departamento. Máquinas virtuales completas para los roles que necesitan aislamiento total; contenedores más livianos para el monitoreo y el respaldo.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pieza central del diseño de red. Una red NAT (192.168.80.0/24) conecta el equipo físico con Proxmox, que actúa como router; una segunda red, completamente interna (10.10.10.0/24, vmbr1), no tiene ni siquiera un puerto físico y aloja a las cuatro máquinas y los dos contenedores, cada uno con una dirección fija según su rol. Entre los dos bordes, el protocolo VRRP mueve una dirección compartida (10.10.10.5) al que esté sano, en unos 3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de las seis unidades votan en el árbitro de continuidad; ninguna tiene salida directa a Internet salvo los bordes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esquema de red (puenteado) fue descartado: el punto de acceso usado en la simulación descartaba las direcciones de las máquinas virtuales anidadas, y en un caso llegó a interferir con la conexión del propio equipo anfitrión. Se rediseñó con la red NAT propia que se acaba de 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junta todo lo descrito: la red externa, el equipo físico como router, el par de bordes, el par de núcleos con la base replicada, el monitoreo, el árbitro de continuidad, el respaldo local y la copia en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Capturas reales del sistema de administración: las cuatro máquinas virtuales corriendo junto al contenedor de monitoreo, y el contenedor de respaldos con su almacenamiento propio.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Nada se construyó a mano. Un archivo describe y crea las máquinas y la red. Cada máquina recibe su identidad al primer arranque. Otro conjunto de archivos instala y configura todo de forma repetible. Y cada cambio queda registrado con su historial.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la salida real de la herramienta de infraestructura como código. A la derecha, el historial real de cambios en GitHub, cada uno con su mensaje.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Doce herramientas cooperan: unas crean y ejecutan las máquinas y hacen de router; otras reparten el tráfico y mueven la dirección compartida; otras gestionan la base de datos y deciden quién manda; otras monitorean, cifran los respaldos y controlan el acceso remoto solo con llave.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etapa: cómo se logra que la caída de una máquina no la note el usuario.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borde se usa VRRP. Una dirección compartida la tiene el borde principal; si cae, la dirección salta sola al borde de respaldo en unos tres segundos, y cuando el principal vuelve, la recupera. Es como el número de un teléfono de atención que se desvía solo al escritorio de al 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núcleo tiene tres piezas que trabajan juntas. Un árbitro que vota quién es el líder: una junta de cinco miembros, con mayoría de tres. Un guía que dirige siempre a la aplicación hacia el líder vigente. Y un gestor de bases con replicación en vivo: una operación no se confirma si la réplica no la recibió.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ubica cada pieza: arriba, el árbitro de cinco miembros repartido en cinco máquinas distintas; abajo, cada núcleo con su gestor de base, su guía y la aplicación. El sistema tolera hasta dos caídas simultáneas sin detenerse.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punta a punta: llega al equipo físico, que la reenvía a la dirección compartida; el borde recibe y reparte a un núcleo; el núcleo atiende y pide la base al guía, que lo lleva al líder vigente; la base responde, y la respuesta vuelve por el mismo camino.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Tercera etapa: una infraestructura redundante no basta. Hay que poder verla, protegerla y recuperar los datos si algo falla.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Ocho capas: aislamiento de red, HTTPS con CA propia, acceso solo con llave, secretos fuera de Git, roles y permisos en la aplicación, cifrado de datos sensibles, respaldo cifrado, y una copia redundante en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construyó una autoridad certificadora propia, como un registro civil corporativo. Cada dispositivo instala su certificado raíz una sola vez y desde ahí ve el candado, sin advertencias. La llave privada de la CA nunca sale del equipo del responsable.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el sistema por HTTPS con candado. A la derecha, un segundo equipo en una red completamente distinta, que abre el sistema sin advertencias y comparte el chat en tiempo real con el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monitoreo corre en un contenedor aparte, fuera de las máquinas que vigila, con trece sensores agrupados por capa. Un centinela pequeño, en el borde, vigila que el monitor principal siga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panel principal con sus trece monitores; los últimos vigilan el respaldo local y el envío a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prueba real: al forzar la caída del monitoreo principal, el centinela lo marca en rojo de inmediato, y mantiene en verde el servicio de punta a punta.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noche, cada núcleo respalda su base, la cifra y la entrega a un receptor dedicado, que a su vez la reenvía a la nube. Cada semana se respaldan además las máquinas completas.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receptor funciona como un buzón: los núcleos solo pueden depositar, no abrirlo, listar, cambiar ni sacar nada. Se probó con seis intentos maliciosos y los seis fueron rechazados.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secuencia completa: los núcleos generan y cifran, el receptor recibe, el almacenamiento guarda, y cada noche se envía además una copia a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Cuarta etapa: junto con la infraestructura y la segmentación de red, uno de los aportes más fuertes de esta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cerró el último punto único de falla con una copia cifrada en Google Cloud Storage: un espacio privado, con una credencial que solo puede crear archivos —no leer, listar ni borrar—, verificando cada envío. Ocurre automáticamente cada noche.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los respaldos reales ya recibidos. A la derecha, la configuración de permisos: la credencial solo puede crear archivos nuevos.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tráfico real observado en un día es mínimo. El costo de mantener esta copia es marginal frente al valor que aporta a la continuidad del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respaldo real se descargó, se descifró y se restauró en un entorno aislado, sin tocar el sistema real, y coincidió exactamente con los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Quinta etapa: aquí se entra en el detalle de qué se cambió y por qué, con datos y tiempos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pruebas consisten en forzar una falla real de un componente, con el sistema abierto y en uso, y observar tres cosas: si el servicio sigue, si el monitoreo lo detecta y cuánto tarda en recuperarse. Las horas se toman de los registros reales del sistema, nunca de una estimación.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apaga el núcleo que en ese momento era el líder de la base. El sistema detecta la falla y promueve al otro núcleo. De los 26,4 segundos, casi todo es un margen de seguridad para no arriesgar los datos: la promoción en sí fue casi instantánea. El servicio no dejó de responder.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el núcleo apagado, el sistema siguió respondiendo: la base la sirvió el segundo núcleo. El monitoreo marcó con precisión solo los dos monitores del núcleo caído.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apaga el borde que tenía la dirección compartida. En unos tres segundos, el otro borde ya la tenía asumida. El usuario prácticamente no lo notó.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apagan a la vez el monitoreo principal y un borde. El sistema siguió funcionando, y el centinela detectó la caída del monitor principal sin afectar al servicio. Esta prueba motivó el diseño del centinela que vigila al vigilante.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pasa el liderazgo de un núcleo a otro a propósito, para poder respaldarlo sin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ajuste más importante del proyecto. La primera versión del núcleo tenía una réplica con copia cada 15 minutos y promoción manual. Al forzar una caída real en una prueba, cayó la base de datos y el servicio (error 502). Se rediseñó con Patroni, etcd y HAProxy —lo que se vio en la etapa 2—: replicación sincrónica y cambio de líder automático. Encontrar y corregir a tiempo, antes de producción, es parte del método.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infraestructura ya validada, se diseñó una segunda ronda más exigente: ensayar la restauración real, forzar fallas de disco, aislar al líder de la red sin apagarlo, y ampliar el árbitro para tolerar más fallas a la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escenario más exigente: un nodo aislado de la red, pero encendido — cero escrituras dobles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pruebas de disco, cada una más exigente: D1 y D2 no mostraron ningún fallo, con el margen de disco alcanzando para sostener la escritura real. D2b llevó el sistema a su límite real y encontró una mejora de fondo en el almacenamiento compartido del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llevar un disco al límite, se descubrió que el almacenamiento del servidor es compartido entre las cuatro máquinas: agotarlo en una afectó a las demás. El sistema, por diseño, no promovió un nuevo líder sin estar seguro —cero riesgo de datos incorrectos—. Se amplió el espacio disponible y todo volvió a la normalidad sin perder un solo dato: usuarios, empleados y respaldos, verificados intactos.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hallazgo del disco mostró el límite real de tolerar solo una falla a la vez en el árbitro de continuidad. Se amplió de tres a cinco votos, y se repitió la prueba: hoy, dos caídas simultáneas no detienen el servicio.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prueba que confirma el ajuste: con el árbitro ya en cinco miembros, se apagan a la vez un borde y el líder de la base. El servicio no dejó de responder.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panorama completo de tiempos medidos en las dos tandas. En todos los casos, el tiempo dominante es un margen de seguridad deliberado, no una demora real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Sumado al ensayo desde la nube visto en la etapa 4, se restauró también un respaldo desde el receptor local y una máquina virtual completa, ambos con éxito. Las tres rutas de recuperación del sistema quedan verificadas.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encender todo de nuevo, el sistema vuelve solo a su estado normal, sin intervención manual. Y el resultado de las diez pruebas: el árbitro pasó de tolerar una falla a tolerar dos, la restauración quedó ensayada con éxito en tres escenarios, y el hallazgo de almacenamiento se corrigió sin pérdida de datos. Es exactamente el propósito de simular antes de producir.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bitácora reúne treinta y tres incidentes reales, todos con causa raíz y resolución. Destaco tres categorías: nube, alta disponibilidad y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verificables en el informe (144 páginas) y en la evidencia de este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verificable, con evidencia real, no estimaciones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Redes Virtuales, Virtualización, Arquitectura Cloud —con un caso real de Google Cloud Storage—, Gestión de Proyectos, Gestión de Servicios TI, Gestión de la Información con TICs, y Diseño de Redes.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presentado corresponde a la fase de simulación, ya validada con dos tandas de pruebas. Las fases siguientes están dentro del mismo cronograma.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servidor físico, ya cotizado. La migración a producción. Una alerta automática de espacio en el almacenamiento compartido. Formalizar en el código la ampliación del árbitro. Y la revisión legal de los documentos de protección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conclusiones finales.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Muchas gracias. Quedo atento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A34"/>
        </a:solidFill>
      </p:bgPr>
    </p:bg>
    <p:spTree>
      <p:nvGrpSpPr>
        <p:cNvPr id="1" name=""/>
        <p:cNvGrpSpPr/>
        <p:nvPr/>
      </p:nvGrpSpPr>
      <p:grpSpPr>
        <a:xfrm>
          <a:off x="0" y="0"/>
          <a:ext cx="0" cy="0"/>
          <a:chOff x="0" y="0"/>
          <a:chExt cx="0" cy="0"/>
        </a:xfrm>
      </p:grpSpPr>
      <p:sp>
        <p:nvSpPr>
          <p:cNvPr id="2" name="Shape 0"/>
          <p:cNvSpPr/>
          <p:nvPr/>
        </p:nvSpPr>
        <p:spPr>
          <a:xfrm>
            <a:off x="9646920" y="1051560"/>
            <a:ext cx="1463040" cy="365760"/>
          </a:xfrm>
          <a:prstGeom prst="line">
            <a:avLst/>
          </a:prstGeom>
          <a:noFill/>
          <a:ln w="19050">
            <a:solidFill>
              <a:srgbClr val="3D5C69"/>
            </a:solidFill>
            <a:prstDash val="solid"/>
          </a:ln>
        </p:spPr>
      </p:sp>
      <p:sp>
        <p:nvSpPr>
          <p:cNvPr id="3" name="Shape 1"/>
          <p:cNvSpPr/>
          <p:nvPr/>
        </p:nvSpPr>
        <p:spPr>
          <a:xfrm>
            <a:off x="9646920" y="1051560"/>
            <a:ext cx="731520" cy="1463040"/>
          </a:xfrm>
          <a:prstGeom prst="line">
            <a:avLst/>
          </a:prstGeom>
          <a:noFill/>
          <a:ln w="19050">
            <a:solidFill>
              <a:srgbClr val="3D5C69"/>
            </a:solidFill>
            <a:prstDash val="solid"/>
          </a:ln>
        </p:spPr>
      </p:sp>
      <p:sp>
        <p:nvSpPr>
          <p:cNvPr id="4" name="Shape 2"/>
          <p:cNvSpPr/>
          <p:nvPr/>
        </p:nvSpPr>
        <p:spPr>
          <a:xfrm flipV="1">
            <a:off x="10378440" y="1417320"/>
            <a:ext cx="731520" cy="1097280"/>
          </a:xfrm>
          <a:prstGeom prst="line">
            <a:avLst/>
          </a:prstGeom>
          <a:noFill/>
          <a:ln w="19050">
            <a:solidFill>
              <a:srgbClr val="3D5C69"/>
            </a:solidFill>
            <a:prstDash val="solid"/>
          </a:ln>
        </p:spPr>
      </p:sp>
      <p:sp>
        <p:nvSpPr>
          <p:cNvPr id="5" name="Shape 3"/>
          <p:cNvSpPr/>
          <p:nvPr/>
        </p:nvSpPr>
        <p:spPr>
          <a:xfrm>
            <a:off x="10378440" y="2514600"/>
            <a:ext cx="1005840" cy="914400"/>
          </a:xfrm>
          <a:prstGeom prst="line">
            <a:avLst/>
          </a:prstGeom>
          <a:noFill/>
          <a:ln w="19050">
            <a:solidFill>
              <a:srgbClr val="3D5C69"/>
            </a:solidFill>
            <a:prstDash val="solid"/>
          </a:ln>
        </p:spPr>
      </p:sp>
      <p:sp>
        <p:nvSpPr>
          <p:cNvPr id="6" name="Shape 4"/>
          <p:cNvSpPr/>
          <p:nvPr/>
        </p:nvSpPr>
        <p:spPr>
          <a:xfrm flipV="1">
            <a:off x="9829800" y="2514600"/>
            <a:ext cx="548640" cy="1554480"/>
          </a:xfrm>
          <a:prstGeom prst="line">
            <a:avLst/>
          </a:prstGeom>
          <a:noFill/>
          <a:ln w="19050">
            <a:solidFill>
              <a:srgbClr val="3D5C69"/>
            </a:solidFill>
            <a:prstDash val="solid"/>
          </a:ln>
        </p:spPr>
      </p:sp>
      <p:sp>
        <p:nvSpPr>
          <p:cNvPr id="7" name="Shape 5"/>
          <p:cNvSpPr/>
          <p:nvPr/>
        </p:nvSpPr>
        <p:spPr>
          <a:xfrm>
            <a:off x="9829800" y="4069080"/>
            <a:ext cx="1005840" cy="1188720"/>
          </a:xfrm>
          <a:prstGeom prst="line">
            <a:avLst/>
          </a:prstGeom>
          <a:noFill/>
          <a:ln w="19050">
            <a:solidFill>
              <a:srgbClr val="3D5C69"/>
            </a:solidFill>
            <a:prstDash val="solid"/>
          </a:ln>
        </p:spPr>
      </p:sp>
      <p:sp>
        <p:nvSpPr>
          <p:cNvPr id="8" name="Shape 6"/>
          <p:cNvSpPr/>
          <p:nvPr/>
        </p:nvSpPr>
        <p:spPr>
          <a:xfrm flipV="1">
            <a:off x="10835640" y="3429000"/>
            <a:ext cx="548640" cy="1828800"/>
          </a:xfrm>
          <a:prstGeom prst="line">
            <a:avLst/>
          </a:prstGeom>
          <a:noFill/>
          <a:ln w="19050">
            <a:solidFill>
              <a:srgbClr val="3D5C69"/>
            </a:solidFill>
            <a:prstDash val="solid"/>
          </a:ln>
        </p:spPr>
      </p:sp>
      <p:sp>
        <p:nvSpPr>
          <p:cNvPr id="9" name="Shape 7"/>
          <p:cNvSpPr/>
          <p:nvPr/>
        </p:nvSpPr>
        <p:spPr>
          <a:xfrm flipV="1">
            <a:off x="9464040" y="4069080"/>
            <a:ext cx="365760" cy="2011680"/>
          </a:xfrm>
          <a:prstGeom prst="line">
            <a:avLst/>
          </a:prstGeom>
          <a:noFill/>
          <a:ln w="19050">
            <a:solidFill>
              <a:srgbClr val="3D5C69"/>
            </a:solidFill>
            <a:prstDash val="solid"/>
          </a:ln>
        </p:spPr>
      </p:sp>
      <p:sp>
        <p:nvSpPr>
          <p:cNvPr id="10" name="Shape 8"/>
          <p:cNvSpPr/>
          <p:nvPr/>
        </p:nvSpPr>
        <p:spPr>
          <a:xfrm flipV="1">
            <a:off x="9464040" y="5257800"/>
            <a:ext cx="1371600" cy="822960"/>
          </a:xfrm>
          <a:prstGeom prst="line">
            <a:avLst/>
          </a:prstGeom>
          <a:noFill/>
          <a:ln w="19050">
            <a:solidFill>
              <a:srgbClr val="3D5C69"/>
            </a:solidFill>
            <a:prstDash val="solid"/>
          </a:ln>
        </p:spPr>
      </p:sp>
      <p:sp>
        <p:nvSpPr>
          <p:cNvPr id="11" name="Shape 9"/>
          <p:cNvSpPr/>
          <p:nvPr/>
        </p:nvSpPr>
        <p:spPr>
          <a:xfrm>
            <a:off x="9509760" y="914400"/>
            <a:ext cx="274320" cy="274320"/>
          </a:xfrm>
          <a:prstGeom prst="ellipse">
            <a:avLst/>
          </a:prstGeom>
          <a:solidFill>
            <a:srgbClr val="182A34"/>
          </a:solidFill>
          <a:ln w="31750">
            <a:solidFill>
              <a:srgbClr val="5FD3C8"/>
            </a:solidFill>
            <a:prstDash val="solid"/>
          </a:ln>
        </p:spPr>
      </p:sp>
      <p:sp>
        <p:nvSpPr>
          <p:cNvPr id="12" name="Shape 10"/>
          <p:cNvSpPr/>
          <p:nvPr/>
        </p:nvSpPr>
        <p:spPr>
          <a:xfrm>
            <a:off x="10972800" y="1280160"/>
            <a:ext cx="274320" cy="274320"/>
          </a:xfrm>
          <a:prstGeom prst="ellipse">
            <a:avLst/>
          </a:prstGeom>
          <a:solidFill>
            <a:srgbClr val="20343F"/>
          </a:solidFill>
          <a:ln w="31750">
            <a:solidFill>
              <a:srgbClr val="8EE6B8"/>
            </a:solidFill>
            <a:prstDash val="solid"/>
          </a:ln>
        </p:spPr>
      </p:sp>
      <p:sp>
        <p:nvSpPr>
          <p:cNvPr id="13" name="Shape 11"/>
          <p:cNvSpPr/>
          <p:nvPr/>
        </p:nvSpPr>
        <p:spPr>
          <a:xfrm>
            <a:off x="10241280" y="2377440"/>
            <a:ext cx="274320" cy="274320"/>
          </a:xfrm>
          <a:prstGeom prst="ellipse">
            <a:avLst/>
          </a:prstGeom>
          <a:solidFill>
            <a:srgbClr val="182A34"/>
          </a:solidFill>
          <a:ln w="31750">
            <a:solidFill>
              <a:srgbClr val="F2B35A"/>
            </a:solidFill>
            <a:prstDash val="solid"/>
          </a:ln>
        </p:spPr>
      </p:sp>
      <p:sp>
        <p:nvSpPr>
          <p:cNvPr id="14" name="Shape 12"/>
          <p:cNvSpPr/>
          <p:nvPr/>
        </p:nvSpPr>
        <p:spPr>
          <a:xfrm>
            <a:off x="11247120" y="3291840"/>
            <a:ext cx="274320" cy="274320"/>
          </a:xfrm>
          <a:prstGeom prst="ellipse">
            <a:avLst/>
          </a:prstGeom>
          <a:solidFill>
            <a:srgbClr val="20343F"/>
          </a:solidFill>
          <a:ln w="31750">
            <a:solidFill>
              <a:srgbClr val="5FD3C8"/>
            </a:solidFill>
            <a:prstDash val="solid"/>
          </a:ln>
        </p:spPr>
      </p:sp>
      <p:sp>
        <p:nvSpPr>
          <p:cNvPr id="15" name="Shape 13"/>
          <p:cNvSpPr/>
          <p:nvPr/>
        </p:nvSpPr>
        <p:spPr>
          <a:xfrm>
            <a:off x="9692640" y="3931920"/>
            <a:ext cx="274320" cy="274320"/>
          </a:xfrm>
          <a:prstGeom prst="ellipse">
            <a:avLst/>
          </a:prstGeom>
          <a:solidFill>
            <a:srgbClr val="182A34"/>
          </a:solidFill>
          <a:ln w="31750">
            <a:solidFill>
              <a:srgbClr val="8EE6B8"/>
            </a:solidFill>
            <a:prstDash val="solid"/>
          </a:ln>
        </p:spPr>
      </p:sp>
      <p:sp>
        <p:nvSpPr>
          <p:cNvPr id="16" name="Shape 14"/>
          <p:cNvSpPr/>
          <p:nvPr/>
        </p:nvSpPr>
        <p:spPr>
          <a:xfrm>
            <a:off x="10698480" y="5120640"/>
            <a:ext cx="274320" cy="274320"/>
          </a:xfrm>
          <a:prstGeom prst="ellipse">
            <a:avLst/>
          </a:prstGeom>
          <a:solidFill>
            <a:srgbClr val="20343F"/>
          </a:solidFill>
          <a:ln w="31750">
            <a:solidFill>
              <a:srgbClr val="F2B35A"/>
            </a:solidFill>
            <a:prstDash val="solid"/>
          </a:ln>
        </p:spPr>
      </p:sp>
      <p:sp>
        <p:nvSpPr>
          <p:cNvPr id="17" name="Shape 15"/>
          <p:cNvSpPr/>
          <p:nvPr/>
        </p:nvSpPr>
        <p:spPr>
          <a:xfrm>
            <a:off x="9326880" y="5943600"/>
            <a:ext cx="274320" cy="274320"/>
          </a:xfrm>
          <a:prstGeom prst="ellipse">
            <a:avLst/>
          </a:prstGeom>
          <a:solidFill>
            <a:srgbClr val="182A34"/>
          </a:solidFill>
          <a:ln w="31750">
            <a:solidFill>
              <a:srgbClr val="5FD3C8"/>
            </a:solidFill>
            <a:prstDash val="solid"/>
          </a:ln>
        </p:spPr>
      </p:sp>
      <p:sp>
        <p:nvSpPr>
          <p:cNvPr id="18" name="Text 16"/>
          <p:cNvSpPr txBox="1"/>
          <p:nvPr/>
        </p:nvSpPr>
        <p:spPr>
          <a:xfrm>
            <a:off x="822960" y="1097280"/>
            <a:ext cx="8686800" cy="365760"/>
          </a:xfrm>
          <a:prstGeom prst="rect">
            <a:avLst/>
          </a:prstGeom>
          <a:noFill/>
          <a:ln/>
        </p:spPr>
        <p:txBody>
          <a:bodyPr wrap="square" lIns="0" tIns="0" rIns="0" bIns="0" rtlCol="0" anchor="ctr"/>
          <a:lstStyle/>
          <a:p>
            <a:pPr indent="0" marL="0">
              <a:buNone/>
            </a:pPr>
            <a:r>
              <a:rPr lang="en-US" sz="1600" b="1" spc="400" kern="0" dirty="0">
                <a:solidFill>
                  <a:srgbClr val="F2B35A"/>
                </a:solidFill>
                <a:latin typeface="Calibri" pitchFamily="34" charset="0"/>
                <a:ea typeface="Calibri" pitchFamily="34" charset="-122"/>
                <a:cs typeface="Calibri" pitchFamily="34" charset="-120"/>
              </a:rPr>
              <a:t>PRÁCTICA PROFESIONAL · CENTRO CHIC</a:t>
            </a:r>
            <a:endParaRPr lang="en-US" sz="1600" dirty="0"/>
          </a:p>
        </p:txBody>
      </p:sp>
      <p:sp>
        <p:nvSpPr>
          <p:cNvPr id="19" name="Text 17"/>
          <p:cNvSpPr txBox="1"/>
          <p:nvPr/>
        </p:nvSpPr>
        <p:spPr>
          <a:xfrm>
            <a:off x="822960" y="1600200"/>
            <a:ext cx="8778240" cy="1463040"/>
          </a:xfrm>
          <a:prstGeom prst="rect">
            <a:avLst/>
          </a:prstGeom>
          <a:noFill/>
          <a:ln/>
        </p:spPr>
        <p:txBody>
          <a:bodyPr wrap="square" lIns="0" tIns="0" rIns="0" bIns="0" rtlCol="0" anchor="t">
            <a:normAutofit/>
          </a:bodyPr>
          <a:lstStyle/>
          <a:p>
            <a:pPr indent="0" marL="0">
              <a:buNone/>
            </a:pPr>
            <a:r>
              <a:rPr lang="en-US" sz="4200" b="1" dirty="0">
                <a:solidFill>
                  <a:srgbClr val="E8F1F2"/>
                </a:solidFill>
                <a:latin typeface="Calibri" pitchFamily="34" charset="0"/>
                <a:ea typeface="Calibri" pitchFamily="34" charset="-122"/>
                <a:cs typeface="Calibri" pitchFamily="34" charset="-120"/>
              </a:rPr>
              <a:t>Redes, virtualización y continuidad en la nube</a:t>
            </a:r>
            <a:endParaRPr lang="en-US" sz="4200" dirty="0"/>
          </a:p>
        </p:txBody>
      </p:sp>
      <p:sp>
        <p:nvSpPr>
          <p:cNvPr id="20" name="Text 18"/>
          <p:cNvSpPr txBox="1"/>
          <p:nvPr/>
        </p:nvSpPr>
        <p:spPr>
          <a:xfrm>
            <a:off x="822960" y="3246120"/>
            <a:ext cx="8778240" cy="640080"/>
          </a:xfrm>
          <a:prstGeom prst="rect">
            <a:avLst/>
          </a:prstGeom>
          <a:noFill/>
          <a:ln/>
        </p:spPr>
        <p:txBody>
          <a:bodyPr wrap="square" lIns="0" tIns="0" rIns="0" bIns="0" rtlCol="0" anchor="t">
            <a:normAutofit/>
          </a:bodyPr>
          <a:lstStyle/>
          <a:p>
            <a:pPr indent="0" marL="0">
              <a:buNone/>
            </a:pPr>
            <a:r>
              <a:rPr lang="en-US" sz="2600" b="1" dirty="0">
                <a:solidFill>
                  <a:srgbClr val="5FD3C8"/>
                </a:solidFill>
                <a:latin typeface="Calibri" pitchFamily="34" charset="0"/>
                <a:ea typeface="Calibri" pitchFamily="34" charset="-122"/>
                <a:cs typeface="Calibri" pitchFamily="34" charset="-120"/>
              </a:rPr>
              <a:t>La infraestructura detrás del CRM del Centro CHIC</a:t>
            </a:r>
            <a:endParaRPr lang="en-US" sz="2600" dirty="0"/>
          </a:p>
        </p:txBody>
      </p:sp>
      <p:sp>
        <p:nvSpPr>
          <p:cNvPr id="21" name="Text 19"/>
          <p:cNvSpPr txBox="1"/>
          <p:nvPr/>
        </p:nvSpPr>
        <p:spPr>
          <a:xfrm>
            <a:off x="822960" y="3977640"/>
            <a:ext cx="8229600" cy="731520"/>
          </a:xfrm>
          <a:prstGeom prst="rect">
            <a:avLst/>
          </a:prstGeom>
          <a:noFill/>
          <a:ln/>
        </p:spPr>
        <p:txBody>
          <a:bodyPr wrap="square" lIns="0" tIns="0" rIns="0" bIns="0" rtlCol="0" anchor="t">
            <a:normAutofit/>
          </a:bodyPr>
          <a:lstStyle/>
          <a:p>
            <a:pPr indent="0" marL="0">
              <a:buNone/>
            </a:pPr>
            <a:r>
              <a:rPr lang="en-US" sz="1700" dirty="0">
                <a:solidFill>
                  <a:srgbClr val="9DB2BA"/>
                </a:solidFill>
                <a:latin typeface="Calibri" pitchFamily="34" charset="0"/>
                <a:ea typeface="Calibri" pitchFamily="34" charset="-122"/>
                <a:cs typeface="Calibri" pitchFamily="34" charset="-120"/>
              </a:rPr>
              <a:t>Del problema real de CHIC a una infraestructura de redes, virtualización y continuidad verificada con pruebas reales</a:t>
            </a:r>
            <a:endParaRPr lang="en-US" sz="1700" dirty="0"/>
          </a:p>
        </p:txBody>
      </p:sp>
      <p:sp>
        <p:nvSpPr>
          <p:cNvPr id="22" name="Shape 20"/>
          <p:cNvSpPr/>
          <p:nvPr/>
        </p:nvSpPr>
        <p:spPr>
          <a:xfrm>
            <a:off x="822960" y="5349240"/>
            <a:ext cx="7498080" cy="594360"/>
          </a:xfrm>
          <a:prstGeom prst="roundRect">
            <a:avLst>
              <a:gd name="adj" fmla="val 46154"/>
            </a:avLst>
          </a:prstGeom>
          <a:solidFill>
            <a:srgbClr val="182A34"/>
          </a:solidFill>
          <a:ln w="19050">
            <a:solidFill>
              <a:srgbClr val="F2B35A"/>
            </a:solidFill>
            <a:prstDash val="solid"/>
          </a:ln>
        </p:spPr>
      </p:sp>
      <p:sp>
        <p:nvSpPr>
          <p:cNvPr id="23" name="Text 21"/>
          <p:cNvSpPr txBox="1"/>
          <p:nvPr/>
        </p:nvSpPr>
        <p:spPr>
          <a:xfrm>
            <a:off x="1005840" y="5349240"/>
            <a:ext cx="7223760" cy="594360"/>
          </a:xfrm>
          <a:prstGeom prst="rect">
            <a:avLst/>
          </a:prstGeom>
          <a:noFill/>
          <a:ln/>
        </p:spPr>
        <p:txBody>
          <a:bodyPr wrap="square" lIns="0" tIns="0" rIns="0" bIns="0" rtlCol="0" anchor="ctr"/>
          <a:lstStyle/>
          <a:p>
            <a:pPr indent="0" marL="0">
              <a:buNone/>
            </a:pPr>
            <a:r>
              <a:rPr lang="en-US" sz="1600" dirty="0">
                <a:solidFill>
                  <a:srgbClr val="E8F1F2"/>
                </a:solidFill>
                <a:latin typeface="Calibri" pitchFamily="34" charset="0"/>
                <a:ea typeface="Calibri" pitchFamily="34" charset="-122"/>
                <a:cs typeface="Calibri" pitchFamily="34" charset="-120"/>
              </a:rPr>
              <a:t>César Manríquez Figueroa · Ingeniería en Conectividad y Redes ·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Qué vamos a recorrer</a:t>
            </a:r>
            <a:endParaRPr lang="en-US" sz="3000" dirty="0"/>
          </a:p>
        </p:txBody>
      </p:sp>
      <p:pic>
        <p:nvPicPr>
          <p:cNvPr id="3" name="Image 0" descr="C:\Users\HP\Desktop\crm-empresarial\docs\practica-profesional\presentacion\ppt\img\i01_hoja_de_ruta.png">    </p:cNvPr>
          <p:cNvPicPr>
            <a:picLocks noChangeAspect="1"/>
          </p:cNvPicPr>
          <p:nvPr/>
        </p:nvPicPr>
        <p:blipFill>
          <a:blip r:embed="rId1"/>
          <a:stretch>
            <a:fillRect/>
          </a:stretch>
        </p:blipFill>
        <p:spPr>
          <a:xfrm>
            <a:off x="457200" y="1097280"/>
            <a:ext cx="11274552" cy="4855464"/>
          </a:xfrm>
          <a:prstGeom prst="rect">
            <a:avLst/>
          </a:prstGeom>
        </p:spPr>
      </p:pic>
      <p:sp>
        <p:nvSpPr>
          <p:cNvPr id="4" name="Shape 1"/>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5" name="Text 2"/>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Cada etapa nace de una necesidad que dejó la anterior</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Un problema real de CHIC</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PUNTO DE PARTIDA</a:t>
            </a:r>
            <a:endParaRPr lang="en-US" sz="1100" dirty="0"/>
          </a:p>
        </p:txBody>
      </p:sp>
      <p:pic>
        <p:nvPicPr>
          <p:cNvPr id="4" name="Image 0" descr="C:\Users\HP\Desktop\crm-empresarial\docs\practica-profesional\presentacion\ppt\img\i02_desafio.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Centralizar la gestión y proteger datos de salud: de ahí nace la necesidad de una infraestructura propia</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La primera solución: un CRM en microservicios con Docker</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PUNTO DE PARTIDA</a:t>
            </a:r>
            <a:endParaRPr lang="en-US" sz="1100" dirty="0"/>
          </a:p>
        </p:txBody>
      </p:sp>
      <p:pic>
        <p:nvPicPr>
          <p:cNvPr id="4" name="Image 0" descr="C:\Users\HP\Desktop\crm-empresarial\docs\practica-profesional\presentacion\ppt\img\i03_crm_vistazo.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Docker y los microservicios son hoy el estándar para construir software: por eso fue el punto de partida</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Cómo se orquestó: microservicios con Docker Compose</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PUNTO DE PARTIDA</a:t>
            </a:r>
            <a:endParaRPr lang="en-US" sz="1100" dirty="0"/>
          </a:p>
        </p:txBody>
      </p:sp>
      <p:pic>
        <p:nvPicPr>
          <p:cNvPr id="4" name="Image 0" descr="C:\Users\HP\Desktop\crm-empresarial\docs\practica-profesional\presentacion\ppt\img\i04_docker.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Un comando levanta las 9 piezas; cada servicio es dueño de su base de datos</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El CRM real, en ejecución</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PUNTO DE PARTIDA</a:t>
            </a:r>
            <a:endParaRPr lang="en-US" sz="1100" dirty="0"/>
          </a:p>
        </p:txBody>
      </p:sp>
      <p:sp>
        <p:nvSpPr>
          <p:cNvPr id="4" name="Shape 2"/>
          <p:cNvSpPr/>
          <p:nvPr/>
        </p:nvSpPr>
        <p:spPr>
          <a:xfrm>
            <a:off x="384048" y="1024128"/>
            <a:ext cx="5678873" cy="2423732"/>
          </a:xfrm>
          <a:prstGeom prst="roundRect">
            <a:avLst>
              <a:gd name="adj" fmla="val 3773"/>
            </a:avLst>
          </a:prstGeom>
          <a:solidFill>
            <a:srgbClr val="20343F"/>
          </a:solidFill>
          <a:ln w="12700">
            <a:solidFill>
              <a:srgbClr val="3D5C69"/>
            </a:solidFill>
            <a:prstDash val="solid"/>
          </a:ln>
        </p:spPr>
      </p:sp>
      <p:pic>
        <p:nvPicPr>
          <p:cNvPr id="5" name="Image 0" descr="C:\Users\HP\Desktop\crm-empresarial\docs\practica-profesional\capturas\crm-01-empleados.png">    </p:cNvPr>
          <p:cNvPicPr>
            <a:picLocks noChangeAspect="1"/>
          </p:cNvPicPr>
          <p:nvPr/>
        </p:nvPicPr>
        <p:blipFill>
          <a:blip r:embed="rId1"/>
          <a:stretch>
            <a:fillRect/>
          </a:stretch>
        </p:blipFill>
        <p:spPr>
          <a:xfrm>
            <a:off x="457200" y="1097280"/>
            <a:ext cx="5532569" cy="2277428"/>
          </a:xfrm>
          <a:prstGeom prst="rect">
            <a:avLst/>
          </a:prstGeom>
        </p:spPr>
      </p:pic>
      <p:sp>
        <p:nvSpPr>
          <p:cNvPr id="6" name="Text 3"/>
          <p:cNvSpPr txBox="1"/>
          <p:nvPr/>
        </p:nvSpPr>
        <p:spPr>
          <a:xfrm>
            <a:off x="365760" y="3511868"/>
            <a:ext cx="5715449"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Empleados: personal, cargo y estado (datos difuminados)</a:t>
            </a:r>
            <a:endParaRPr lang="en-US" sz="1200" dirty="0"/>
          </a:p>
        </p:txBody>
      </p:sp>
      <p:sp>
        <p:nvSpPr>
          <p:cNvPr id="7" name="Shape 4"/>
          <p:cNvSpPr/>
          <p:nvPr/>
        </p:nvSpPr>
        <p:spPr>
          <a:xfrm>
            <a:off x="6282377" y="1024128"/>
            <a:ext cx="5522527" cy="2423732"/>
          </a:xfrm>
          <a:prstGeom prst="roundRect">
            <a:avLst>
              <a:gd name="adj" fmla="val 3773"/>
            </a:avLst>
          </a:prstGeom>
          <a:solidFill>
            <a:srgbClr val="20343F"/>
          </a:solidFill>
          <a:ln w="12700">
            <a:solidFill>
              <a:srgbClr val="3D5C69"/>
            </a:solidFill>
            <a:prstDash val="solid"/>
          </a:ln>
        </p:spPr>
      </p:sp>
      <p:pic>
        <p:nvPicPr>
          <p:cNvPr id="8" name="Image 1" descr="C:\Users\HP\Desktop\crm-empresarial\docs\practica-profesional\capturas\crm-02-calendario.png">    </p:cNvPr>
          <p:cNvPicPr>
            <a:picLocks noChangeAspect="1"/>
          </p:cNvPicPr>
          <p:nvPr/>
        </p:nvPicPr>
        <p:blipFill>
          <a:blip r:embed="rId2"/>
          <a:stretch>
            <a:fillRect/>
          </a:stretch>
        </p:blipFill>
        <p:spPr>
          <a:xfrm>
            <a:off x="6355529" y="1097280"/>
            <a:ext cx="5376223" cy="2277428"/>
          </a:xfrm>
          <a:prstGeom prst="rect">
            <a:avLst/>
          </a:prstGeom>
        </p:spPr>
      </p:pic>
      <p:sp>
        <p:nvSpPr>
          <p:cNvPr id="9" name="Text 5"/>
          <p:cNvSpPr txBox="1"/>
          <p:nvPr/>
        </p:nvSpPr>
        <p:spPr>
          <a:xfrm>
            <a:off x="6264089" y="3511868"/>
            <a:ext cx="5559103"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Calendario: eventos, horarios y participantes</a:t>
            </a:r>
            <a:endParaRPr lang="en-US" sz="1200" dirty="0"/>
          </a:p>
        </p:txBody>
      </p:sp>
      <p:sp>
        <p:nvSpPr>
          <p:cNvPr id="10" name="Shape 6"/>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11" name="Text 7"/>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No es una maqueta: es un sistema real, en uso, con datos sensibles que proteger</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El límite de Docker solo, en un PC</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PUNTO DE PARTIDA</a:t>
            </a:r>
            <a:endParaRPr lang="en-US" sz="1100" dirty="0"/>
          </a:p>
        </p:txBody>
      </p:sp>
      <p:sp>
        <p:nvSpPr>
          <p:cNvPr id="4" name="Shape 2"/>
          <p:cNvSpPr/>
          <p:nvPr/>
        </p:nvSpPr>
        <p:spPr>
          <a:xfrm>
            <a:off x="2715416" y="1024128"/>
            <a:ext cx="6758119" cy="4443984"/>
          </a:xfrm>
          <a:prstGeom prst="roundRect">
            <a:avLst>
              <a:gd name="adj" fmla="val 2058"/>
            </a:avLst>
          </a:prstGeom>
          <a:solidFill>
            <a:srgbClr val="F4F5F2"/>
          </a:solidFill>
          <a:ln w="12700">
            <a:solidFill>
              <a:srgbClr val="3D5C69"/>
            </a:solidFill>
            <a:prstDash val="solid"/>
          </a:ln>
        </p:spPr>
      </p:sp>
      <p:pic>
        <p:nvPicPr>
          <p:cNvPr id="5" name="Image 0" descr="C:\Users\HP\Desktop\crm-empresarial\docs\practica-profesional\diagramas\01-alto-nivel-contexto.png">    </p:cNvPr>
          <p:cNvPicPr>
            <a:picLocks noChangeAspect="1"/>
          </p:cNvPicPr>
          <p:nvPr/>
        </p:nvPicPr>
        <p:blipFill>
          <a:blip r:embed="rId1"/>
          <a:stretch>
            <a:fillRect/>
          </a:stretch>
        </p:blipFill>
        <p:spPr>
          <a:xfrm>
            <a:off x="2788568" y="1097280"/>
            <a:ext cx="6611815" cy="4297680"/>
          </a:xfrm>
          <a:prstGeom prst="rect">
            <a:avLst/>
          </a:prstGeom>
        </p:spPr>
      </p:pic>
      <p:sp>
        <p:nvSpPr>
          <p:cNvPr id="6" name="Text 3"/>
          <p:cNvSpPr txBox="1"/>
          <p:nvPr/>
        </p:nvSpPr>
        <p:spPr>
          <a:xfrm>
            <a:off x="2697128" y="5532120"/>
            <a:ext cx="6794695"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Punto de partida: todo el CRM en un solo equipo, sin red aislada ni redundancia</a:t>
            </a:r>
            <a:endParaRPr lang="en-US" sz="1200" dirty="0"/>
          </a:p>
        </p:txBody>
      </p:sp>
      <p:sp>
        <p:nvSpPr>
          <p:cNvPr id="7" name="Shape 4"/>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8" name="Text 5"/>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Docker resuelve empaquetar el software; no resuelve la continuidad del negocio</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De un PC con Docker a una infraestructura diseñada</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PUNTO DE PARTIDA</a:t>
            </a:r>
            <a:endParaRPr lang="en-US" sz="1100" dirty="0"/>
          </a:p>
        </p:txBody>
      </p:sp>
      <p:pic>
        <p:nvPicPr>
          <p:cNvPr id="4" name="Image 0" descr="C:\Users\HP\Desktop\crm-empresarial\docs\practica-profesional\presentacion\ppt\img\i07_antes_despues.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La solución final: virtualizar con Proxmox y desplegar el mismo CRM sobre una infraestructura redundante</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82A34"/>
        </a:solidFill>
      </p:bgPr>
    </p:bg>
    <p:spTree>
      <p:nvGrpSpPr>
        <p:cNvPr id="1" name=""/>
        <p:cNvGrpSpPr/>
        <p:nvPr/>
      </p:nvGrpSpPr>
      <p:grpSpPr>
        <a:xfrm>
          <a:off x="0" y="0"/>
          <a:ext cx="0" cy="0"/>
          <a:chOff x="0" y="0"/>
          <a:chExt cx="0" cy="0"/>
        </a:xfrm>
      </p:grpSpPr>
      <p:sp>
        <p:nvSpPr>
          <p:cNvPr id="2" name="Shape 0"/>
          <p:cNvSpPr/>
          <p:nvPr/>
        </p:nvSpPr>
        <p:spPr>
          <a:xfrm>
            <a:off x="822960" y="1920240"/>
            <a:ext cx="2926080" cy="2926080"/>
          </a:xfrm>
          <a:prstGeom prst="ellipse">
            <a:avLst/>
          </a:prstGeom>
          <a:solidFill>
            <a:srgbClr val="20343F"/>
          </a:solidFill>
          <a:ln w="50800">
            <a:solidFill>
              <a:srgbClr val="5FD3C8"/>
            </a:solidFill>
            <a:prstDash val="solid"/>
          </a:ln>
        </p:spPr>
      </p:sp>
      <p:sp>
        <p:nvSpPr>
          <p:cNvPr id="3" name="Text 1"/>
          <p:cNvSpPr txBox="1"/>
          <p:nvPr/>
        </p:nvSpPr>
        <p:spPr>
          <a:xfrm>
            <a:off x="822960" y="1920240"/>
            <a:ext cx="2926080" cy="2926080"/>
          </a:xfrm>
          <a:prstGeom prst="rect">
            <a:avLst/>
          </a:prstGeom>
          <a:noFill/>
          <a:ln/>
        </p:spPr>
        <p:txBody>
          <a:bodyPr wrap="square" lIns="0" tIns="0" rIns="0" bIns="0" rtlCol="0" anchor="ctr"/>
          <a:lstStyle/>
          <a:p>
            <a:pPr algn="ctr" indent="0" marL="0">
              <a:buNone/>
            </a:pPr>
            <a:r>
              <a:rPr lang="en-US" sz="13000" b="1" dirty="0">
                <a:solidFill>
                  <a:srgbClr val="5FD3C8"/>
                </a:solidFill>
                <a:latin typeface="Calibri" pitchFamily="34" charset="0"/>
                <a:ea typeface="Calibri" pitchFamily="34" charset="-122"/>
                <a:cs typeface="Calibri" pitchFamily="34" charset="-120"/>
              </a:rPr>
              <a:t>1</a:t>
            </a:r>
            <a:endParaRPr lang="en-US" sz="13000" dirty="0"/>
          </a:p>
        </p:txBody>
      </p:sp>
      <p:sp>
        <p:nvSpPr>
          <p:cNvPr id="4" name="Text 2"/>
          <p:cNvSpPr txBox="1"/>
          <p:nvPr/>
        </p:nvSpPr>
        <p:spPr>
          <a:xfrm>
            <a:off x="4297680" y="2011680"/>
            <a:ext cx="7315200" cy="365760"/>
          </a:xfrm>
          <a:prstGeom prst="rect">
            <a:avLst/>
          </a:prstGeom>
          <a:noFill/>
          <a:ln/>
        </p:spPr>
        <p:txBody>
          <a:bodyPr wrap="square" lIns="0" tIns="0" rIns="0" bIns="0" rtlCol="0" anchor="ctr"/>
          <a:lstStyle/>
          <a:p>
            <a:pPr indent="0" marL="0">
              <a:buNone/>
            </a:pPr>
            <a:r>
              <a:rPr lang="en-US" sz="1600" b="1" spc="400" kern="0" dirty="0">
                <a:solidFill>
                  <a:srgbClr val="F2B35A"/>
                </a:solidFill>
                <a:latin typeface="Calibri" pitchFamily="34" charset="0"/>
                <a:ea typeface="Calibri" pitchFamily="34" charset="-122"/>
                <a:cs typeface="Calibri" pitchFamily="34" charset="-120"/>
              </a:rPr>
              <a:t>ETAPA 1 DE 5</a:t>
            </a:r>
            <a:endParaRPr lang="en-US" sz="1600" dirty="0"/>
          </a:p>
        </p:txBody>
      </p:sp>
      <p:sp>
        <p:nvSpPr>
          <p:cNvPr id="5" name="Text 3"/>
          <p:cNvSpPr txBox="1"/>
          <p:nvPr/>
        </p:nvSpPr>
        <p:spPr>
          <a:xfrm>
            <a:off x="4297680" y="2468880"/>
            <a:ext cx="7315200" cy="1371600"/>
          </a:xfrm>
          <a:prstGeom prst="rect">
            <a:avLst/>
          </a:prstGeom>
          <a:noFill/>
          <a:ln/>
        </p:spPr>
        <p:txBody>
          <a:bodyPr wrap="square" lIns="0" tIns="0" rIns="0" bIns="0" rtlCol="0" anchor="t">
            <a:normAutofit/>
          </a:bodyPr>
          <a:lstStyle/>
          <a:p>
            <a:pPr indent="0" marL="0">
              <a:buNone/>
            </a:pPr>
            <a:r>
              <a:rPr lang="en-US" sz="4400" b="1" dirty="0">
                <a:solidFill>
                  <a:srgbClr val="E8F1F2"/>
                </a:solidFill>
                <a:latin typeface="Calibri" pitchFamily="34" charset="0"/>
                <a:ea typeface="Calibri" pitchFamily="34" charset="-122"/>
                <a:cs typeface="Calibri" pitchFamily="34" charset="-120"/>
              </a:rPr>
              <a:t>Infraestructura</a:t>
            </a:r>
            <a:endParaRPr lang="en-US" sz="4400" dirty="0"/>
          </a:p>
        </p:txBody>
      </p:sp>
      <p:sp>
        <p:nvSpPr>
          <p:cNvPr id="6" name="Text 4"/>
          <p:cNvSpPr txBox="1"/>
          <p:nvPr/>
        </p:nvSpPr>
        <p:spPr>
          <a:xfrm>
            <a:off x="4297680" y="3977640"/>
            <a:ext cx="7315200" cy="914400"/>
          </a:xfrm>
          <a:prstGeom prst="rect">
            <a:avLst/>
          </a:prstGeom>
          <a:noFill/>
          <a:ln/>
        </p:spPr>
        <p:txBody>
          <a:bodyPr wrap="square" lIns="0" tIns="0" rIns="0" bIns="0" rtlCol="0" anchor="t">
            <a:normAutofit/>
          </a:bodyPr>
          <a:lstStyle/>
          <a:p>
            <a:pPr indent="0" marL="0">
              <a:buNone/>
            </a:pPr>
            <a:r>
              <a:rPr lang="en-US" sz="2000" dirty="0">
                <a:solidFill>
                  <a:srgbClr val="9DB2BA"/>
                </a:solidFill>
                <a:latin typeface="Calibri" pitchFamily="34" charset="0"/>
                <a:ea typeface="Calibri" pitchFamily="34" charset="-122"/>
                <a:cs typeface="Calibri" pitchFamily="34" charset="-120"/>
              </a:rPr>
              <a:t>Proxmox, la red y las máquinas</a:t>
            </a:r>
            <a:endParaRPr lang="en-US" sz="2000" dirty="0"/>
          </a:p>
        </p:txBody>
      </p:sp>
      <p:sp>
        <p:nvSpPr>
          <p:cNvPr id="7" name="Shape 5"/>
          <p:cNvSpPr/>
          <p:nvPr/>
        </p:nvSpPr>
        <p:spPr>
          <a:xfrm>
            <a:off x="4297680" y="5577840"/>
            <a:ext cx="274320" cy="274320"/>
          </a:xfrm>
          <a:prstGeom prst="ellipse">
            <a:avLst/>
          </a:prstGeom>
          <a:solidFill>
            <a:srgbClr val="5FD3C8"/>
          </a:solidFill>
          <a:ln w="25400">
            <a:solidFill>
              <a:srgbClr val="5FD3C8"/>
            </a:solidFill>
            <a:prstDash val="solid"/>
          </a:ln>
        </p:spPr>
      </p:sp>
      <p:sp>
        <p:nvSpPr>
          <p:cNvPr id="8" name="Shape 6"/>
          <p:cNvSpPr/>
          <p:nvPr/>
        </p:nvSpPr>
        <p:spPr>
          <a:xfrm>
            <a:off x="4800600" y="5577840"/>
            <a:ext cx="274320" cy="274320"/>
          </a:xfrm>
          <a:prstGeom prst="ellipse">
            <a:avLst/>
          </a:prstGeom>
          <a:solidFill>
            <a:srgbClr val="182A34"/>
          </a:solidFill>
          <a:ln w="25400">
            <a:solidFill>
              <a:srgbClr val="3D5C69"/>
            </a:solidFill>
            <a:prstDash val="solid"/>
          </a:ln>
        </p:spPr>
      </p:sp>
      <p:sp>
        <p:nvSpPr>
          <p:cNvPr id="9" name="Shape 7"/>
          <p:cNvSpPr/>
          <p:nvPr/>
        </p:nvSpPr>
        <p:spPr>
          <a:xfrm>
            <a:off x="5303520" y="5577840"/>
            <a:ext cx="274320" cy="274320"/>
          </a:xfrm>
          <a:prstGeom prst="ellipse">
            <a:avLst/>
          </a:prstGeom>
          <a:solidFill>
            <a:srgbClr val="182A34"/>
          </a:solidFill>
          <a:ln w="25400">
            <a:solidFill>
              <a:srgbClr val="3D5C69"/>
            </a:solidFill>
            <a:prstDash val="solid"/>
          </a:ln>
        </p:spPr>
      </p:sp>
      <p:sp>
        <p:nvSpPr>
          <p:cNvPr id="10" name="Shape 8"/>
          <p:cNvSpPr/>
          <p:nvPr/>
        </p:nvSpPr>
        <p:spPr>
          <a:xfrm>
            <a:off x="5806440" y="5577840"/>
            <a:ext cx="274320" cy="274320"/>
          </a:xfrm>
          <a:prstGeom prst="ellipse">
            <a:avLst/>
          </a:prstGeom>
          <a:solidFill>
            <a:srgbClr val="182A34"/>
          </a:solidFill>
          <a:ln w="25400">
            <a:solidFill>
              <a:srgbClr val="3D5C69"/>
            </a:solidFill>
            <a:prstDash val="solid"/>
          </a:ln>
        </p:spPr>
      </p:sp>
      <p:sp>
        <p:nvSpPr>
          <p:cNvPr id="11" name="Shape 9"/>
          <p:cNvSpPr/>
          <p:nvPr/>
        </p:nvSpPr>
        <p:spPr>
          <a:xfrm>
            <a:off x="6309360" y="5577840"/>
            <a:ext cx="274320" cy="274320"/>
          </a:xfrm>
          <a:prstGeom prst="ellipse">
            <a:avLst/>
          </a:prstGeom>
          <a:solidFill>
            <a:srgbClr val="182A34"/>
          </a:solidFill>
          <a:ln w="25400">
            <a:solidFill>
              <a:srgbClr val="3D5C69"/>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Simular antes de producir</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1 · INFRAESTRUCTURA</a:t>
            </a:r>
            <a:endParaRPr lang="en-US" sz="1100" dirty="0"/>
          </a:p>
        </p:txBody>
      </p:sp>
      <p:pic>
        <p:nvPicPr>
          <p:cNvPr id="4" name="Image 0" descr="C:\Users\HP\Desktop\crm-empresarial\docs\practica-profesional\presentacion\ppt\img\i08_simulacion.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Proxmox VE 9.2, anidado en VMware, sobre un único equipo físico</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Proxmox: el edificio donde vive todo</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1 · INFRAESTRUCTURA</a:t>
            </a:r>
            <a:endParaRPr lang="en-US" sz="1100" dirty="0"/>
          </a:p>
        </p:txBody>
      </p:sp>
      <p:pic>
        <p:nvPicPr>
          <p:cNvPr id="4" name="Image 0" descr="C:\Users\HP\Desktop\crm-empresarial\docs\practica-profesional\presentacion\ppt\img\i09_proxmox_capas.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Proxmox reparte los recursos entre 4 máquinas virtuales y 2 contenedores</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IPs y segmentación lógica de la red</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1 · INFRAESTRUCTURA</a:t>
            </a:r>
            <a:endParaRPr lang="en-US" sz="1100" dirty="0"/>
          </a:p>
        </p:txBody>
      </p:sp>
      <p:pic>
        <p:nvPicPr>
          <p:cNvPr id="4" name="Image 0" descr="C:\Users\HP\Desktop\crm-empresarial\docs\practica-profesional\presentacion\ppt\img\i10_red_capas.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Dos redes separadas, direcciones fijas por rol, y VRRP moviendo la dirección compartida del borde</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Inventario de direcciones y roles</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1 · INFRAESTRUCTURA</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5074920"/>
        </p:xfrm>
        <a:graphic>
          <a:graphicData uri="http://schemas.openxmlformats.org/drawingml/2006/table">
            <a:tbl>
              <a:tblPr/>
              <a:tblGrid>
                <a:gridCol w="1828800"/>
                <a:gridCol w="1828800"/>
                <a:gridCol w="5605272"/>
                <a:gridCol w="2011680"/>
              </a:tblGrid>
              <a:tr h="634365">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Nombre</a:t>
                      </a:r>
                      <a:endParaRPr lang="en-US" sz="130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5FD3C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IP interna</a:t>
                      </a:r>
                      <a:endParaRPr lang="en-US" sz="130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5FD3C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a:t>
                      </a:r>
                      <a:endParaRPr lang="en-US" sz="130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5FD3C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Tipo</a:t>
                      </a:r>
                      <a:endParaRPr lang="en-US" sz="130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5FD3C8"/>
                    </a:solidFill>
                  </a:tcPr>
                </a:tc>
              </a:tr>
              <a:tr h="634365">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crm-edge</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10.10.10.2</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Borde MASTER: Nginx, Keepalived, voto etcd</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VM</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r>
              <a:tr h="634365">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crm-edge-b</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182A34"/>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10.10.10.3</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182A34"/>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Borde BACKUP: Nginx, Keepalived, voto etcd</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182A34"/>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VM</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182A34"/>
                    </a:solidFill>
                  </a:tcPr>
                </a:tc>
              </a:tr>
              <a:tr h="634365">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10.10.10.5</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Dirección virtual compartida (VRRP), publicada por DNAT</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r>
              <a:tr h="634365">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crm-core</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182A34"/>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10.10.10.10</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182A34"/>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Núcleo: aplicación, base de datos, voto etcd</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182A34"/>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VM</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182A34"/>
                    </a:solidFill>
                  </a:tcPr>
                </a:tc>
              </a:tr>
              <a:tr h="634365">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crm-core-b</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10.10.10.11</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Núcleo: aplicación, base de datos, voto etcd</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VM</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r>
              <a:tr h="634365">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crm-mon</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182A34"/>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10.10.10.20</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182A34"/>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Monitoreo NOC (13 monitores), voto etcd</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182A34"/>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LXC</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182A34"/>
                    </a:solidFill>
                  </a:tcPr>
                </a:tc>
              </a:tr>
              <a:tr h="634365">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crm-nas</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10.10.10.30</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Receptor de respaldos, solo escritura</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c>
                  <a:txBody>
                    <a:bodyPr/>
                    <a:lstStyle/>
                    <a:p>
                      <a:pPr indent="0" marL="0">
                        <a:buNone/>
                      </a:pPr>
                      <a:r>
                        <a:rPr lang="en-US" sz="1250" dirty="0">
                          <a:solidFill>
                            <a:srgbClr val="E8F1F2"/>
                          </a:solidFill>
                          <a:latin typeface="Calibri" pitchFamily="34" charset="0"/>
                          <a:ea typeface="Calibri" pitchFamily="34" charset="-122"/>
                          <a:cs typeface="Calibri" pitchFamily="34" charset="-120"/>
                        </a:rPr>
                        <a:t>LXC</a:t>
                      </a:r>
                      <a:endParaRPr lang="en-US" sz="1250" dirty="0">
                        <a:latin typeface="Calibri" charset="0"/>
                        <a:ea typeface="Calibri" charset="0"/>
                        <a:cs typeface="Calibri" charset="0"/>
                      </a:endParaRPr>
                    </a:p>
                  </a:txBody>
                  <a:tcPr marL="91440" marR="91440" marT="45720" marB="45720" anchor="ctr">
                    <a:lnL w="6350" cap="flat" cmpd="sng" algn="ctr">
                      <a:solidFill>
                        <a:srgbClr val="3D5C69"/>
                      </a:solidFill>
                      <a:prstDash val="solid"/>
                      <a:round/>
                      <a:headEnd type="none" w="med" len="med"/>
                      <a:tailEnd type="none" w="med" len="med"/>
                    </a:lnL>
                    <a:lnR w="6350" cap="flat" cmpd="sng" algn="ctr">
                      <a:solidFill>
                        <a:srgbClr val="3D5C69"/>
                      </a:solidFill>
                      <a:prstDash val="solid"/>
                      <a:round/>
                      <a:headEnd type="none" w="med" len="med"/>
                      <a:tailEnd type="none" w="med" len="med"/>
                    </a:lnR>
                    <a:lnT w="6350" cap="flat" cmpd="sng" algn="ctr">
                      <a:solidFill>
                        <a:srgbClr val="3D5C69"/>
                      </a:solidFill>
                      <a:prstDash val="solid"/>
                      <a:round/>
                      <a:headEnd type="none" w="med" len="med"/>
                      <a:tailEnd type="none" w="med" len="med"/>
                    </a:lnT>
                    <a:lnB w="6350" cap="flat" cmpd="sng" algn="ctr">
                      <a:solidFill>
                        <a:srgbClr val="3D5C69"/>
                      </a:solidFill>
                      <a:prstDash val="solid"/>
                      <a:round/>
                      <a:headEnd type="none" w="med" len="med"/>
                      <a:tailEnd type="none" w="med" len="med"/>
                    </a:lnB>
                    <a:solidFill>
                      <a:srgbClr val="20343F"/>
                    </a:solidFill>
                  </a:tcPr>
                </a:tc>
              </a:tr>
            </a:tbl>
          </a:graphicData>
        </a:graphic>
      </p:graphicFrame>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Una decisión de red basada en incidentes reales</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1 · INFRAESTRUCTURA</a:t>
            </a:r>
            <a:endParaRPr lang="en-US" sz="1100" dirty="0"/>
          </a:p>
        </p:txBody>
      </p:sp>
      <p:pic>
        <p:nvPicPr>
          <p:cNvPr id="4" name="Image 0" descr="C:\Users\HP\Desktop\crm-empresarial\docs\practica-profesional\presentacion\ppt\img\i11_nat_bridged.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Un esquema de red inicial resultó incompatible con el hardware de conexión disponible</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La vista completa de la arquitectura</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1 · INFRAESTRUCTURA</a:t>
            </a:r>
            <a:endParaRPr lang="en-US" sz="1100" dirty="0"/>
          </a:p>
        </p:txBody>
      </p:sp>
      <p:sp>
        <p:nvSpPr>
          <p:cNvPr id="4" name="Shape 2"/>
          <p:cNvSpPr/>
          <p:nvPr/>
        </p:nvSpPr>
        <p:spPr>
          <a:xfrm>
            <a:off x="752520" y="1024128"/>
            <a:ext cx="5535840" cy="5038344"/>
          </a:xfrm>
          <a:prstGeom prst="roundRect">
            <a:avLst>
              <a:gd name="adj" fmla="val 1815"/>
            </a:avLst>
          </a:prstGeom>
          <a:solidFill>
            <a:srgbClr val="F4F5F2"/>
          </a:solidFill>
          <a:ln w="12700">
            <a:solidFill>
              <a:srgbClr val="3D5C69"/>
            </a:solidFill>
            <a:prstDash val="solid"/>
          </a:ln>
        </p:spPr>
      </p:sp>
      <p:pic>
        <p:nvPicPr>
          <p:cNvPr id="5" name="Image 0" descr="C:\Users\HP\Desktop\crm-empresarial\docs\practica-profesional\diagramas\04-infraestructura-proxmox.png">    </p:cNvPr>
          <p:cNvPicPr>
            <a:picLocks noChangeAspect="1"/>
          </p:cNvPicPr>
          <p:nvPr/>
        </p:nvPicPr>
        <p:blipFill>
          <a:blip r:embed="rId1"/>
          <a:stretch>
            <a:fillRect/>
          </a:stretch>
        </p:blipFill>
        <p:spPr>
          <a:xfrm>
            <a:off x="825672" y="1097280"/>
            <a:ext cx="5389536" cy="4892040"/>
          </a:xfrm>
          <a:prstGeom prst="rect">
            <a:avLst/>
          </a:prstGeom>
        </p:spPr>
      </p:pic>
      <p:sp>
        <p:nvSpPr>
          <p:cNvPr id="6" name="Text 3"/>
          <p:cNvSpPr txBox="1"/>
          <p:nvPr/>
        </p:nvSpPr>
        <p:spPr>
          <a:xfrm>
            <a:off x="457200" y="6053328"/>
            <a:ext cx="6126480" cy="365760"/>
          </a:xfrm>
          <a:prstGeom prst="rect">
            <a:avLst/>
          </a:prstGeom>
          <a:noFill/>
          <a:ln/>
        </p:spPr>
        <p:txBody>
          <a:bodyPr wrap="square" lIns="0" tIns="0" rIns="0" bIns="0" rtlCol="0" anchor="ctr">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Arquitectura de virtualización, redes y continuidad</a:t>
            </a:r>
            <a:endParaRPr lang="en-US" sz="1200" dirty="0"/>
          </a:p>
        </p:txBody>
      </p:sp>
      <p:sp>
        <p:nvSpPr>
          <p:cNvPr id="7" name="Shape 4"/>
          <p:cNvSpPr/>
          <p:nvPr/>
        </p:nvSpPr>
        <p:spPr>
          <a:xfrm>
            <a:off x="6858000" y="1097280"/>
            <a:ext cx="4873752" cy="4892040"/>
          </a:xfrm>
          <a:prstGeom prst="roundRect">
            <a:avLst>
              <a:gd name="adj" fmla="val 2627"/>
            </a:avLst>
          </a:prstGeom>
          <a:solidFill>
            <a:srgbClr val="20343F"/>
          </a:solidFill>
          <a:ln w="12700">
            <a:solidFill>
              <a:srgbClr val="3D5C69"/>
            </a:solidFill>
            <a:prstDash val="solid"/>
          </a:ln>
        </p:spPr>
      </p:sp>
      <p:sp>
        <p:nvSpPr>
          <p:cNvPr id="8" name="Text 5"/>
          <p:cNvSpPr txBox="1"/>
          <p:nvPr/>
        </p:nvSpPr>
        <p:spPr>
          <a:xfrm>
            <a:off x="7086600" y="1234440"/>
            <a:ext cx="4434840" cy="548640"/>
          </a:xfrm>
          <a:prstGeom prst="rect">
            <a:avLst/>
          </a:prstGeom>
          <a:noFill/>
          <a:ln/>
        </p:spPr>
        <p:txBody>
          <a:bodyPr wrap="square" lIns="0" tIns="0" rIns="0" bIns="0" rtlCol="0" anchor="ctr">
            <a:normAutofit/>
          </a:bodyPr>
          <a:lstStyle/>
          <a:p>
            <a:pPr indent="0" marL="0">
              <a:buNone/>
            </a:pPr>
            <a:r>
              <a:rPr lang="en-US" sz="2000" b="1" dirty="0">
                <a:solidFill>
                  <a:srgbClr val="5FD3C8"/>
                </a:solidFill>
                <a:latin typeface="Calibri" pitchFamily="34" charset="0"/>
                <a:ea typeface="Calibri" pitchFamily="34" charset="-122"/>
                <a:cs typeface="Calibri" pitchFamily="34" charset="-120"/>
              </a:rPr>
              <a:t>Cómo leer el diagrama</a:t>
            </a:r>
            <a:endParaRPr lang="en-US" sz="2000" dirty="0"/>
          </a:p>
        </p:txBody>
      </p:sp>
      <p:sp>
        <p:nvSpPr>
          <p:cNvPr id="9" name="Text 6"/>
          <p:cNvSpPr txBox="1"/>
          <p:nvPr/>
        </p:nvSpPr>
        <p:spPr>
          <a:xfrm>
            <a:off x="7086600" y="1874520"/>
            <a:ext cx="4434840" cy="393192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E8F1F2"/>
                </a:solidFill>
                <a:latin typeface="Calibri" pitchFamily="34" charset="0"/>
                <a:ea typeface="Calibri" pitchFamily="34" charset="-122"/>
                <a:cs typeface="Calibri" pitchFamily="34" charset="-120"/>
              </a:rPr>
              <a:t>Arriba: la red externa; Proxmox actúa como router hacia la infraestructura.</a:t>
            </a:r>
            <a:endParaRPr lang="en-US" sz="1700" dirty="0"/>
          </a:p>
          <a:p>
            <a:pPr marL="342900" indent="-342900">
              <a:spcAft>
                <a:spcPts val="1000"/>
              </a:spcAft>
              <a:buSzPct val="100000"/>
              <a:buChar char="•"/>
            </a:pPr>
            <a:r>
              <a:rPr lang="en-US" sz="1700" dirty="0">
                <a:solidFill>
                  <a:srgbClr val="E8F1F2"/>
                </a:solidFill>
                <a:latin typeface="Calibri" pitchFamily="34" charset="0"/>
                <a:ea typeface="Calibri" pitchFamily="34" charset="-122"/>
                <a:cs typeface="Calibri" pitchFamily="34" charset="-120"/>
              </a:rPr>
              <a:t>Al centro: dos bordes con dirección compartida y dos núcleos con base replicada.</a:t>
            </a:r>
            <a:endParaRPr lang="en-US" sz="1700" dirty="0"/>
          </a:p>
          <a:p>
            <a:pPr marL="342900" indent="-342900">
              <a:spcAft>
                <a:spcPts val="1000"/>
              </a:spcAft>
              <a:buSzPct val="100000"/>
              <a:buChar char="•"/>
            </a:pPr>
            <a:r>
              <a:rPr lang="en-US" sz="1700" dirty="0">
                <a:solidFill>
                  <a:srgbClr val="E8F1F2"/>
                </a:solidFill>
                <a:latin typeface="Calibri" pitchFamily="34" charset="0"/>
                <a:ea typeface="Calibri" pitchFamily="34" charset="-122"/>
                <a:cs typeface="Calibri" pitchFamily="34" charset="-120"/>
              </a:rPr>
              <a:t>Abajo: el monitoreo, el árbitro de continuidad y el respaldo, con su copia en la nube.</a:t>
            </a:r>
            <a:endParaRPr lang="en-US" sz="1700" dirty="0"/>
          </a:p>
          <a:p>
            <a:pPr marL="342900" indent="-342900">
              <a:spcAft>
                <a:spcPts val="1000"/>
              </a:spcAft>
              <a:buSzPct val="100000"/>
              <a:buChar char="•"/>
            </a:pPr>
            <a:r>
              <a:rPr lang="en-US" sz="1700" dirty="0">
                <a:solidFill>
                  <a:srgbClr val="E8F1F2"/>
                </a:solidFill>
                <a:latin typeface="Calibri" pitchFamily="34" charset="0"/>
                <a:ea typeface="Calibri" pitchFamily="34" charset="-122"/>
                <a:cs typeface="Calibri" pitchFamily="34" charset="-120"/>
              </a:rPr>
              <a:t>La regla: todo está duplicado, y ahora también hay una copia fuera del equipo físico.</a:t>
            </a:r>
            <a:endParaRPr lang="en-US" sz="17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La infraestructura real, en ejecución</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1 · INFRAESTRUCTURA</a:t>
            </a:r>
            <a:endParaRPr lang="en-US" sz="1100" dirty="0"/>
          </a:p>
        </p:txBody>
      </p:sp>
      <p:sp>
        <p:nvSpPr>
          <p:cNvPr id="4" name="Shape 2"/>
          <p:cNvSpPr/>
          <p:nvPr/>
        </p:nvSpPr>
        <p:spPr>
          <a:xfrm>
            <a:off x="384048" y="1024128"/>
            <a:ext cx="6297951" cy="2688634"/>
          </a:xfrm>
          <a:prstGeom prst="roundRect">
            <a:avLst>
              <a:gd name="adj" fmla="val 3401"/>
            </a:avLst>
          </a:prstGeom>
          <a:solidFill>
            <a:srgbClr val="20343F"/>
          </a:solidFill>
          <a:ln w="12700">
            <a:solidFill>
              <a:srgbClr val="3D5C69"/>
            </a:solidFill>
            <a:prstDash val="solid"/>
          </a:ln>
        </p:spPr>
      </p:sp>
      <p:pic>
        <p:nvPicPr>
          <p:cNvPr id="5" name="Image 0" descr="C:\Users\HP\Desktop\crm-empresarial\docs\practica-profesional\presentacion\ppt\img\pve-13-recortada.png">    </p:cNvPr>
          <p:cNvPicPr>
            <a:picLocks noChangeAspect="1"/>
          </p:cNvPicPr>
          <p:nvPr/>
        </p:nvPicPr>
        <p:blipFill>
          <a:blip r:embed="rId1"/>
          <a:stretch>
            <a:fillRect/>
          </a:stretch>
        </p:blipFill>
        <p:spPr>
          <a:xfrm>
            <a:off x="457200" y="1097280"/>
            <a:ext cx="6151647" cy="2542330"/>
          </a:xfrm>
          <a:prstGeom prst="rect">
            <a:avLst/>
          </a:prstGeom>
        </p:spPr>
      </p:pic>
      <p:sp>
        <p:nvSpPr>
          <p:cNvPr id="6" name="Text 3"/>
          <p:cNvSpPr txBox="1"/>
          <p:nvPr/>
        </p:nvSpPr>
        <p:spPr>
          <a:xfrm>
            <a:off x="365760" y="3776770"/>
            <a:ext cx="6334527"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Las cuatro máquinas y el contenedor de monitoreo, en ejecución</a:t>
            </a:r>
            <a:endParaRPr lang="en-US" sz="1200" dirty="0"/>
          </a:p>
        </p:txBody>
      </p:sp>
      <p:sp>
        <p:nvSpPr>
          <p:cNvPr id="7" name="Shape 4"/>
          <p:cNvSpPr/>
          <p:nvPr/>
        </p:nvSpPr>
        <p:spPr>
          <a:xfrm>
            <a:off x="6901455" y="1024128"/>
            <a:ext cx="4903449" cy="2688634"/>
          </a:xfrm>
          <a:prstGeom prst="roundRect">
            <a:avLst>
              <a:gd name="adj" fmla="val 3401"/>
            </a:avLst>
          </a:prstGeom>
          <a:solidFill>
            <a:srgbClr val="20343F"/>
          </a:solidFill>
          <a:ln w="12700">
            <a:solidFill>
              <a:srgbClr val="3D5C69"/>
            </a:solidFill>
            <a:prstDash val="solid"/>
          </a:ln>
        </p:spPr>
      </p:sp>
      <p:pic>
        <p:nvPicPr>
          <p:cNvPr id="8" name="Image 1" descr="C:\Users\HP\Desktop\crm-empresarial\docs\practica-profesional\capturas\nas-01-crm-nas-en-proxmox.png">    </p:cNvPr>
          <p:cNvPicPr>
            <a:picLocks noChangeAspect="1"/>
          </p:cNvPicPr>
          <p:nvPr/>
        </p:nvPicPr>
        <p:blipFill>
          <a:blip r:embed="rId2"/>
          <a:stretch>
            <a:fillRect/>
          </a:stretch>
        </p:blipFill>
        <p:spPr>
          <a:xfrm>
            <a:off x="6974607" y="1097280"/>
            <a:ext cx="4757145" cy="2542330"/>
          </a:xfrm>
          <a:prstGeom prst="rect">
            <a:avLst/>
          </a:prstGeom>
        </p:spPr>
      </p:pic>
      <p:sp>
        <p:nvSpPr>
          <p:cNvPr id="9" name="Text 5"/>
          <p:cNvSpPr txBox="1"/>
          <p:nvPr/>
        </p:nvSpPr>
        <p:spPr>
          <a:xfrm>
            <a:off x="6883167" y="3776770"/>
            <a:ext cx="4940025"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El contenedor de respaldos y su almacenamiento</a:t>
            </a:r>
            <a:endParaRPr lang="en-US" sz="1200" dirty="0"/>
          </a:p>
        </p:txBody>
      </p:sp>
      <p:sp>
        <p:nvSpPr>
          <p:cNvPr id="10" name="Shape 6"/>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11" name="Text 7"/>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Evidencia real, no un diagrama de intención</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Todo como código</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1 · INFRAESTRUCTURA</a:t>
            </a:r>
            <a:endParaRPr lang="en-US" sz="1100" dirty="0"/>
          </a:p>
        </p:txBody>
      </p:sp>
      <p:pic>
        <p:nvPicPr>
          <p:cNvPr id="4" name="Image 0" descr="C:\Users\HP\Desktop\crm-empresarial\docs\practica-profesional\presentacion\ppt\img\i13_iac.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La infraestructura se describe en archivos: se puede reconstruir igual cuantas veces haga falta</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Evidencia: cambios planificados y versionados</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1 · INFRAESTRUCTURA</a:t>
            </a:r>
            <a:endParaRPr lang="en-US" sz="1100" dirty="0"/>
          </a:p>
        </p:txBody>
      </p:sp>
      <p:sp>
        <p:nvSpPr>
          <p:cNvPr id="4" name="Shape 2"/>
          <p:cNvSpPr/>
          <p:nvPr/>
        </p:nvSpPr>
        <p:spPr>
          <a:xfrm>
            <a:off x="384048" y="1024128"/>
            <a:ext cx="6712928" cy="3698987"/>
          </a:xfrm>
          <a:prstGeom prst="roundRect">
            <a:avLst>
              <a:gd name="adj" fmla="val 2472"/>
            </a:avLst>
          </a:prstGeom>
          <a:solidFill>
            <a:srgbClr val="20343F"/>
          </a:solidFill>
          <a:ln w="12700">
            <a:solidFill>
              <a:srgbClr val="3D5C69"/>
            </a:solidFill>
            <a:prstDash val="solid"/>
          </a:ln>
        </p:spPr>
      </p:sp>
      <p:pic>
        <p:nvPicPr>
          <p:cNvPr id="5" name="Image 0" descr="C:\Users\HP\Desktop\crm-empresarial\docs\practica-profesional\capturas\tf-01-plan-residual.png">    </p:cNvPr>
          <p:cNvPicPr>
            <a:picLocks noChangeAspect="1"/>
          </p:cNvPicPr>
          <p:nvPr/>
        </p:nvPicPr>
        <p:blipFill>
          <a:blip r:embed="rId1"/>
          <a:stretch>
            <a:fillRect/>
          </a:stretch>
        </p:blipFill>
        <p:spPr>
          <a:xfrm>
            <a:off x="457200" y="1097280"/>
            <a:ext cx="6566624" cy="3552683"/>
          </a:xfrm>
          <a:prstGeom prst="rect">
            <a:avLst/>
          </a:prstGeom>
        </p:spPr>
      </p:pic>
      <p:sp>
        <p:nvSpPr>
          <p:cNvPr id="6" name="Text 3"/>
          <p:cNvSpPr txBox="1"/>
          <p:nvPr/>
        </p:nvSpPr>
        <p:spPr>
          <a:xfrm>
            <a:off x="365760" y="4787123"/>
            <a:ext cx="6749504"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Plan de cambios contra la infraestructura real, antes de aplicarlo</a:t>
            </a:r>
            <a:endParaRPr lang="en-US" sz="1200" dirty="0"/>
          </a:p>
        </p:txBody>
      </p:sp>
      <p:sp>
        <p:nvSpPr>
          <p:cNvPr id="7" name="Shape 4"/>
          <p:cNvSpPr/>
          <p:nvPr/>
        </p:nvSpPr>
        <p:spPr>
          <a:xfrm>
            <a:off x="7316432" y="1024128"/>
            <a:ext cx="4488472" cy="3698987"/>
          </a:xfrm>
          <a:prstGeom prst="roundRect">
            <a:avLst>
              <a:gd name="adj" fmla="val 2472"/>
            </a:avLst>
          </a:prstGeom>
          <a:solidFill>
            <a:srgbClr val="20343F"/>
          </a:solidFill>
          <a:ln w="12700">
            <a:solidFill>
              <a:srgbClr val="3D5C69"/>
            </a:solidFill>
            <a:prstDash val="solid"/>
          </a:ln>
        </p:spPr>
      </p:sp>
      <p:pic>
        <p:nvPicPr>
          <p:cNvPr id="8" name="Image 1" descr="C:\Users\HP\Desktop\crm-empresarial\docs\practica-profesional\evidencia\2026-09-24-07-github-commits.png">    </p:cNvPr>
          <p:cNvPicPr>
            <a:picLocks noChangeAspect="1"/>
          </p:cNvPicPr>
          <p:nvPr/>
        </p:nvPicPr>
        <p:blipFill>
          <a:blip r:embed="rId2"/>
          <a:stretch>
            <a:fillRect/>
          </a:stretch>
        </p:blipFill>
        <p:spPr>
          <a:xfrm>
            <a:off x="7389584" y="1097280"/>
            <a:ext cx="4342168" cy="3552683"/>
          </a:xfrm>
          <a:prstGeom prst="rect">
            <a:avLst/>
          </a:prstGeom>
        </p:spPr>
      </p:pic>
      <p:sp>
        <p:nvSpPr>
          <p:cNvPr id="9" name="Text 5"/>
          <p:cNvSpPr txBox="1"/>
          <p:nvPr/>
        </p:nvSpPr>
        <p:spPr>
          <a:xfrm>
            <a:off x="7298144" y="4787123"/>
            <a:ext cx="4525048"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Historial real de commits del repositorio</a:t>
            </a:r>
            <a:endParaRPr lang="en-US" sz="1200" dirty="0"/>
          </a:p>
        </p:txBody>
      </p:sp>
      <p:sp>
        <p:nvSpPr>
          <p:cNvPr id="10" name="Shape 6"/>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11" name="Text 7"/>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Cada cambio de infraestructura es revisable y queda con su historia</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Las herramientas de la orquesta</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1 · INFRAESTRUCTURA</a:t>
            </a:r>
            <a:endParaRPr lang="en-US" sz="1100" dirty="0"/>
          </a:p>
        </p:txBody>
      </p:sp>
      <p:pic>
        <p:nvPicPr>
          <p:cNvPr id="4" name="Image 0" descr="C:\Users\HP\Desktop\crm-empresarial\docs\practica-profesional\presentacion\ppt\img\i14_mapa_herramientas.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Cada herramienta resuelve un problema distinto, y ninguna es prescindible</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82A34"/>
        </a:solidFill>
      </p:bgPr>
    </p:bg>
    <p:spTree>
      <p:nvGrpSpPr>
        <p:cNvPr id="1" name=""/>
        <p:cNvGrpSpPr/>
        <p:nvPr/>
      </p:nvGrpSpPr>
      <p:grpSpPr>
        <a:xfrm>
          <a:off x="0" y="0"/>
          <a:ext cx="0" cy="0"/>
          <a:chOff x="0" y="0"/>
          <a:chExt cx="0" cy="0"/>
        </a:xfrm>
      </p:grpSpPr>
      <p:sp>
        <p:nvSpPr>
          <p:cNvPr id="2" name="Shape 0"/>
          <p:cNvSpPr/>
          <p:nvPr/>
        </p:nvSpPr>
        <p:spPr>
          <a:xfrm>
            <a:off x="822960" y="1920240"/>
            <a:ext cx="2926080" cy="2926080"/>
          </a:xfrm>
          <a:prstGeom prst="ellipse">
            <a:avLst/>
          </a:prstGeom>
          <a:solidFill>
            <a:srgbClr val="20343F"/>
          </a:solidFill>
          <a:ln w="50800">
            <a:solidFill>
              <a:srgbClr val="5FD3C8"/>
            </a:solidFill>
            <a:prstDash val="solid"/>
          </a:ln>
        </p:spPr>
      </p:sp>
      <p:sp>
        <p:nvSpPr>
          <p:cNvPr id="3" name="Text 1"/>
          <p:cNvSpPr txBox="1"/>
          <p:nvPr/>
        </p:nvSpPr>
        <p:spPr>
          <a:xfrm>
            <a:off x="822960" y="1920240"/>
            <a:ext cx="2926080" cy="2926080"/>
          </a:xfrm>
          <a:prstGeom prst="rect">
            <a:avLst/>
          </a:prstGeom>
          <a:noFill/>
          <a:ln/>
        </p:spPr>
        <p:txBody>
          <a:bodyPr wrap="square" lIns="0" tIns="0" rIns="0" bIns="0" rtlCol="0" anchor="ctr"/>
          <a:lstStyle/>
          <a:p>
            <a:pPr algn="ctr" indent="0" marL="0">
              <a:buNone/>
            </a:pPr>
            <a:r>
              <a:rPr lang="en-US" sz="13000" b="1" dirty="0">
                <a:solidFill>
                  <a:srgbClr val="5FD3C8"/>
                </a:solidFill>
                <a:latin typeface="Calibri" pitchFamily="34" charset="0"/>
                <a:ea typeface="Calibri" pitchFamily="34" charset="-122"/>
                <a:cs typeface="Calibri" pitchFamily="34" charset="-120"/>
              </a:rPr>
              <a:t>2</a:t>
            </a:r>
            <a:endParaRPr lang="en-US" sz="13000" dirty="0"/>
          </a:p>
        </p:txBody>
      </p:sp>
      <p:sp>
        <p:nvSpPr>
          <p:cNvPr id="4" name="Text 2"/>
          <p:cNvSpPr txBox="1"/>
          <p:nvPr/>
        </p:nvSpPr>
        <p:spPr>
          <a:xfrm>
            <a:off x="4297680" y="2011680"/>
            <a:ext cx="7315200" cy="365760"/>
          </a:xfrm>
          <a:prstGeom prst="rect">
            <a:avLst/>
          </a:prstGeom>
          <a:noFill/>
          <a:ln/>
        </p:spPr>
        <p:txBody>
          <a:bodyPr wrap="square" lIns="0" tIns="0" rIns="0" bIns="0" rtlCol="0" anchor="ctr"/>
          <a:lstStyle/>
          <a:p>
            <a:pPr indent="0" marL="0">
              <a:buNone/>
            </a:pPr>
            <a:r>
              <a:rPr lang="en-US" sz="1600" b="1" spc="400" kern="0" dirty="0">
                <a:solidFill>
                  <a:srgbClr val="F2B35A"/>
                </a:solidFill>
                <a:latin typeface="Calibri" pitchFamily="34" charset="0"/>
                <a:ea typeface="Calibri" pitchFamily="34" charset="-122"/>
                <a:cs typeface="Calibri" pitchFamily="34" charset="-120"/>
              </a:rPr>
              <a:t>ETAPA 2 DE 5</a:t>
            </a:r>
            <a:endParaRPr lang="en-US" sz="1600" dirty="0"/>
          </a:p>
        </p:txBody>
      </p:sp>
      <p:sp>
        <p:nvSpPr>
          <p:cNvPr id="5" name="Text 3"/>
          <p:cNvSpPr txBox="1"/>
          <p:nvPr/>
        </p:nvSpPr>
        <p:spPr>
          <a:xfrm>
            <a:off x="4297680" y="2468880"/>
            <a:ext cx="7315200" cy="1371600"/>
          </a:xfrm>
          <a:prstGeom prst="rect">
            <a:avLst/>
          </a:prstGeom>
          <a:noFill/>
          <a:ln/>
        </p:spPr>
        <p:txBody>
          <a:bodyPr wrap="square" lIns="0" tIns="0" rIns="0" bIns="0" rtlCol="0" anchor="t">
            <a:normAutofit/>
          </a:bodyPr>
          <a:lstStyle/>
          <a:p>
            <a:pPr indent="0" marL="0">
              <a:buNone/>
            </a:pPr>
            <a:r>
              <a:rPr lang="en-US" sz="4400" b="1" dirty="0">
                <a:solidFill>
                  <a:srgbClr val="E8F1F2"/>
                </a:solidFill>
                <a:latin typeface="Calibri" pitchFamily="34" charset="0"/>
                <a:ea typeface="Calibri" pitchFamily="34" charset="-122"/>
                <a:cs typeface="Calibri" pitchFamily="34" charset="-120"/>
              </a:rPr>
              <a:t>Redundancia</a:t>
            </a:r>
            <a:endParaRPr lang="en-US" sz="4400" dirty="0"/>
          </a:p>
        </p:txBody>
      </p:sp>
      <p:sp>
        <p:nvSpPr>
          <p:cNvPr id="6" name="Text 4"/>
          <p:cNvSpPr txBox="1"/>
          <p:nvPr/>
        </p:nvSpPr>
        <p:spPr>
          <a:xfrm>
            <a:off x="4297680" y="3977640"/>
            <a:ext cx="7315200" cy="914400"/>
          </a:xfrm>
          <a:prstGeom prst="rect">
            <a:avLst/>
          </a:prstGeom>
          <a:noFill/>
          <a:ln/>
        </p:spPr>
        <p:txBody>
          <a:bodyPr wrap="square" lIns="0" tIns="0" rIns="0" bIns="0" rtlCol="0" anchor="t">
            <a:normAutofit/>
          </a:bodyPr>
          <a:lstStyle/>
          <a:p>
            <a:pPr indent="0" marL="0">
              <a:buNone/>
            </a:pPr>
            <a:r>
              <a:rPr lang="en-US" sz="2000" dirty="0">
                <a:solidFill>
                  <a:srgbClr val="9DB2BA"/>
                </a:solidFill>
                <a:latin typeface="Calibri" pitchFamily="34" charset="0"/>
                <a:ea typeface="Calibri" pitchFamily="34" charset="-122"/>
                <a:cs typeface="Calibri" pitchFamily="34" charset="-120"/>
              </a:rPr>
              <a:t>Que ninguna máquina, sola, pueda cortar el servicio</a:t>
            </a:r>
            <a:endParaRPr lang="en-US" sz="2000" dirty="0"/>
          </a:p>
        </p:txBody>
      </p:sp>
      <p:sp>
        <p:nvSpPr>
          <p:cNvPr id="7" name="Shape 5"/>
          <p:cNvSpPr/>
          <p:nvPr/>
        </p:nvSpPr>
        <p:spPr>
          <a:xfrm>
            <a:off x="4297680" y="5577840"/>
            <a:ext cx="274320" cy="274320"/>
          </a:xfrm>
          <a:prstGeom prst="ellipse">
            <a:avLst/>
          </a:prstGeom>
          <a:solidFill>
            <a:srgbClr val="5FD3C8"/>
          </a:solidFill>
          <a:ln w="25400">
            <a:solidFill>
              <a:srgbClr val="5FD3C8"/>
            </a:solidFill>
            <a:prstDash val="solid"/>
          </a:ln>
        </p:spPr>
      </p:sp>
      <p:sp>
        <p:nvSpPr>
          <p:cNvPr id="8" name="Shape 6"/>
          <p:cNvSpPr/>
          <p:nvPr/>
        </p:nvSpPr>
        <p:spPr>
          <a:xfrm>
            <a:off x="4800600" y="5577840"/>
            <a:ext cx="274320" cy="274320"/>
          </a:xfrm>
          <a:prstGeom prst="ellipse">
            <a:avLst/>
          </a:prstGeom>
          <a:solidFill>
            <a:srgbClr val="5FD3C8"/>
          </a:solidFill>
          <a:ln w="25400">
            <a:solidFill>
              <a:srgbClr val="5FD3C8"/>
            </a:solidFill>
            <a:prstDash val="solid"/>
          </a:ln>
        </p:spPr>
      </p:sp>
      <p:sp>
        <p:nvSpPr>
          <p:cNvPr id="9" name="Shape 7"/>
          <p:cNvSpPr/>
          <p:nvPr/>
        </p:nvSpPr>
        <p:spPr>
          <a:xfrm>
            <a:off x="5303520" y="5577840"/>
            <a:ext cx="274320" cy="274320"/>
          </a:xfrm>
          <a:prstGeom prst="ellipse">
            <a:avLst/>
          </a:prstGeom>
          <a:solidFill>
            <a:srgbClr val="182A34"/>
          </a:solidFill>
          <a:ln w="25400">
            <a:solidFill>
              <a:srgbClr val="3D5C69"/>
            </a:solidFill>
            <a:prstDash val="solid"/>
          </a:ln>
        </p:spPr>
      </p:sp>
      <p:sp>
        <p:nvSpPr>
          <p:cNvPr id="10" name="Shape 8"/>
          <p:cNvSpPr/>
          <p:nvPr/>
        </p:nvSpPr>
        <p:spPr>
          <a:xfrm>
            <a:off x="5806440" y="5577840"/>
            <a:ext cx="274320" cy="274320"/>
          </a:xfrm>
          <a:prstGeom prst="ellipse">
            <a:avLst/>
          </a:prstGeom>
          <a:solidFill>
            <a:srgbClr val="182A34"/>
          </a:solidFill>
          <a:ln w="25400">
            <a:solidFill>
              <a:srgbClr val="3D5C69"/>
            </a:solidFill>
            <a:prstDash val="solid"/>
          </a:ln>
        </p:spPr>
      </p:sp>
      <p:sp>
        <p:nvSpPr>
          <p:cNvPr id="11" name="Shape 9"/>
          <p:cNvSpPr/>
          <p:nvPr/>
        </p:nvSpPr>
        <p:spPr>
          <a:xfrm>
            <a:off x="6309360" y="5577840"/>
            <a:ext cx="274320" cy="274320"/>
          </a:xfrm>
          <a:prstGeom prst="ellipse">
            <a:avLst/>
          </a:prstGeom>
          <a:solidFill>
            <a:srgbClr val="182A34"/>
          </a:solidFill>
          <a:ln w="25400">
            <a:solidFill>
              <a:srgbClr val="3D5C69"/>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Borde: la dirección compartida salta sola</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2 · REDUNDANCIA</a:t>
            </a:r>
            <a:endParaRPr lang="en-US" sz="1100" dirty="0"/>
          </a:p>
        </p:txBody>
      </p:sp>
      <p:pic>
        <p:nvPicPr>
          <p:cNvPr id="4" name="Image 0" descr="C:\Users\HP\Desktop\crm-empresarial\docs\practica-profesional\presentacion\ppt\img\i15_ip_virtual.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El protocolo de red mueve la dirección al borde sano en unos 3 segundos</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Núcleo: árbitro, guía y bases</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2 · REDUNDANCIA</a:t>
            </a:r>
            <a:endParaRPr lang="en-US" sz="1100" dirty="0"/>
          </a:p>
        </p:txBody>
      </p:sp>
      <p:pic>
        <p:nvPicPr>
          <p:cNvPr id="4" name="Image 0" descr="C:\Users\HP\Desktop\crm-empresarial\docs\practica-profesional\presentacion\ppt\img\i17_patroni_etcd_haproxy.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Un árbitro de 5 miembros, un guía que siempre encuentra al líder, y bases con replicación en vivo</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Dónde vive cada pieza del núcleo</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2 · REDUNDANCIA</a:t>
            </a:r>
            <a:endParaRPr lang="en-US" sz="1100" dirty="0"/>
          </a:p>
        </p:txBody>
      </p:sp>
      <p:sp>
        <p:nvSpPr>
          <p:cNvPr id="4" name="Shape 2"/>
          <p:cNvSpPr/>
          <p:nvPr/>
        </p:nvSpPr>
        <p:spPr>
          <a:xfrm>
            <a:off x="1852549" y="1024128"/>
            <a:ext cx="8483854" cy="4764024"/>
          </a:xfrm>
          <a:prstGeom prst="roundRect">
            <a:avLst>
              <a:gd name="adj" fmla="val 1919"/>
            </a:avLst>
          </a:prstGeom>
          <a:solidFill>
            <a:srgbClr val="F4F5F2"/>
          </a:solidFill>
          <a:ln w="12700">
            <a:solidFill>
              <a:srgbClr val="3D5C69"/>
            </a:solidFill>
            <a:prstDash val="solid"/>
          </a:ln>
        </p:spPr>
      </p:sp>
      <p:pic>
        <p:nvPicPr>
          <p:cNvPr id="5" name="Image 0" descr="C:\Users\HP\Desktop\crm-empresarial\docs\practica-profesional\presentacion\ppt\img\11-patroni-ppt.png">    </p:cNvPr>
          <p:cNvPicPr>
            <a:picLocks noChangeAspect="1"/>
          </p:cNvPicPr>
          <p:nvPr/>
        </p:nvPicPr>
        <p:blipFill>
          <a:blip r:embed="rId1"/>
          <a:stretch>
            <a:fillRect/>
          </a:stretch>
        </p:blipFill>
        <p:spPr>
          <a:xfrm>
            <a:off x="1925701" y="1097280"/>
            <a:ext cx="8337550" cy="4617720"/>
          </a:xfrm>
          <a:prstGeom prst="rect">
            <a:avLst/>
          </a:prstGeom>
        </p:spPr>
      </p:pic>
      <p:sp>
        <p:nvSpPr>
          <p:cNvPr id="6" name="Text 3"/>
          <p:cNvSpPr txBox="1"/>
          <p:nvPr/>
        </p:nvSpPr>
        <p:spPr>
          <a:xfrm>
            <a:off x="1834261" y="5852160"/>
            <a:ext cx="8520430"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Alta disponibilidad de la base de datos: ubicación de cada una de las 5 piezas del árbitro</a:t>
            </a:r>
            <a:endParaRPr lang="en-US" sz="12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El viaje completo de una petición</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2 · REDUNDANCIA</a:t>
            </a:r>
            <a:endParaRPr lang="en-US" sz="1100" dirty="0"/>
          </a:p>
        </p:txBody>
      </p:sp>
      <p:pic>
        <p:nvPicPr>
          <p:cNvPr id="4" name="Image 0" descr="C:\Users\HP\Desktop\crm-empresarial\docs\practica-profesional\presentacion\ppt\img\i19_viaje_peticion.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En ningún paso hay una máquina imprescindible: cada uno tiene reemplazo</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82A34"/>
        </a:solidFill>
      </p:bgPr>
    </p:bg>
    <p:spTree>
      <p:nvGrpSpPr>
        <p:cNvPr id="1" name=""/>
        <p:cNvGrpSpPr/>
        <p:nvPr/>
      </p:nvGrpSpPr>
      <p:grpSpPr>
        <a:xfrm>
          <a:off x="0" y="0"/>
          <a:ext cx="0" cy="0"/>
          <a:chOff x="0" y="0"/>
          <a:chExt cx="0" cy="0"/>
        </a:xfrm>
      </p:grpSpPr>
      <p:sp>
        <p:nvSpPr>
          <p:cNvPr id="2" name="Shape 0"/>
          <p:cNvSpPr/>
          <p:nvPr/>
        </p:nvSpPr>
        <p:spPr>
          <a:xfrm>
            <a:off x="822960" y="1920240"/>
            <a:ext cx="2926080" cy="2926080"/>
          </a:xfrm>
          <a:prstGeom prst="ellipse">
            <a:avLst/>
          </a:prstGeom>
          <a:solidFill>
            <a:srgbClr val="20343F"/>
          </a:solidFill>
          <a:ln w="50800">
            <a:solidFill>
              <a:srgbClr val="5FD3C8"/>
            </a:solidFill>
            <a:prstDash val="solid"/>
          </a:ln>
        </p:spPr>
      </p:sp>
      <p:sp>
        <p:nvSpPr>
          <p:cNvPr id="3" name="Text 1"/>
          <p:cNvSpPr txBox="1"/>
          <p:nvPr/>
        </p:nvSpPr>
        <p:spPr>
          <a:xfrm>
            <a:off x="822960" y="1920240"/>
            <a:ext cx="2926080" cy="2926080"/>
          </a:xfrm>
          <a:prstGeom prst="rect">
            <a:avLst/>
          </a:prstGeom>
          <a:noFill/>
          <a:ln/>
        </p:spPr>
        <p:txBody>
          <a:bodyPr wrap="square" lIns="0" tIns="0" rIns="0" bIns="0" rtlCol="0" anchor="ctr"/>
          <a:lstStyle/>
          <a:p>
            <a:pPr algn="ctr" indent="0" marL="0">
              <a:buNone/>
            </a:pPr>
            <a:r>
              <a:rPr lang="en-US" sz="13000" b="1" dirty="0">
                <a:solidFill>
                  <a:srgbClr val="5FD3C8"/>
                </a:solidFill>
                <a:latin typeface="Calibri" pitchFamily="34" charset="0"/>
                <a:ea typeface="Calibri" pitchFamily="34" charset="-122"/>
                <a:cs typeface="Calibri" pitchFamily="34" charset="-120"/>
              </a:rPr>
              <a:t>3</a:t>
            </a:r>
            <a:endParaRPr lang="en-US" sz="13000" dirty="0"/>
          </a:p>
        </p:txBody>
      </p:sp>
      <p:sp>
        <p:nvSpPr>
          <p:cNvPr id="4" name="Text 2"/>
          <p:cNvSpPr txBox="1"/>
          <p:nvPr/>
        </p:nvSpPr>
        <p:spPr>
          <a:xfrm>
            <a:off x="4297680" y="2011680"/>
            <a:ext cx="7315200" cy="365760"/>
          </a:xfrm>
          <a:prstGeom prst="rect">
            <a:avLst/>
          </a:prstGeom>
          <a:noFill/>
          <a:ln/>
        </p:spPr>
        <p:txBody>
          <a:bodyPr wrap="square" lIns="0" tIns="0" rIns="0" bIns="0" rtlCol="0" anchor="ctr"/>
          <a:lstStyle/>
          <a:p>
            <a:pPr indent="0" marL="0">
              <a:buNone/>
            </a:pPr>
            <a:r>
              <a:rPr lang="en-US" sz="1600" b="1" spc="400" kern="0" dirty="0">
                <a:solidFill>
                  <a:srgbClr val="F2B35A"/>
                </a:solidFill>
                <a:latin typeface="Calibri" pitchFamily="34" charset="0"/>
                <a:ea typeface="Calibri" pitchFamily="34" charset="-122"/>
                <a:cs typeface="Calibri" pitchFamily="34" charset="-120"/>
              </a:rPr>
              <a:t>ETAPA 3 DE 5</a:t>
            </a:r>
            <a:endParaRPr lang="en-US" sz="1600" dirty="0"/>
          </a:p>
        </p:txBody>
      </p:sp>
      <p:sp>
        <p:nvSpPr>
          <p:cNvPr id="5" name="Text 3"/>
          <p:cNvSpPr txBox="1"/>
          <p:nvPr/>
        </p:nvSpPr>
        <p:spPr>
          <a:xfrm>
            <a:off x="4297680" y="2468880"/>
            <a:ext cx="7315200" cy="1371600"/>
          </a:xfrm>
          <a:prstGeom prst="rect">
            <a:avLst/>
          </a:prstGeom>
          <a:noFill/>
          <a:ln/>
        </p:spPr>
        <p:txBody>
          <a:bodyPr wrap="square" lIns="0" tIns="0" rIns="0" bIns="0" rtlCol="0" anchor="t">
            <a:normAutofit/>
          </a:bodyPr>
          <a:lstStyle/>
          <a:p>
            <a:pPr indent="0" marL="0">
              <a:buNone/>
            </a:pPr>
            <a:r>
              <a:rPr lang="en-US" sz="4400" b="1" dirty="0">
                <a:solidFill>
                  <a:srgbClr val="E8F1F2"/>
                </a:solidFill>
                <a:latin typeface="Calibri" pitchFamily="34" charset="0"/>
                <a:ea typeface="Calibri" pitchFamily="34" charset="-122"/>
                <a:cs typeface="Calibri" pitchFamily="34" charset="-120"/>
              </a:rPr>
              <a:t>Operación y seguridad</a:t>
            </a:r>
            <a:endParaRPr lang="en-US" sz="4400" dirty="0"/>
          </a:p>
        </p:txBody>
      </p:sp>
      <p:sp>
        <p:nvSpPr>
          <p:cNvPr id="6" name="Text 4"/>
          <p:cNvSpPr txBox="1"/>
          <p:nvPr/>
        </p:nvSpPr>
        <p:spPr>
          <a:xfrm>
            <a:off x="4297680" y="3977640"/>
            <a:ext cx="7315200" cy="914400"/>
          </a:xfrm>
          <a:prstGeom prst="rect">
            <a:avLst/>
          </a:prstGeom>
          <a:noFill/>
          <a:ln/>
        </p:spPr>
        <p:txBody>
          <a:bodyPr wrap="square" lIns="0" tIns="0" rIns="0" bIns="0" rtlCol="0" anchor="t">
            <a:normAutofit/>
          </a:bodyPr>
          <a:lstStyle/>
          <a:p>
            <a:pPr indent="0" marL="0">
              <a:buNone/>
            </a:pPr>
            <a:r>
              <a:rPr lang="en-US" sz="2000" dirty="0">
                <a:solidFill>
                  <a:srgbClr val="9DB2BA"/>
                </a:solidFill>
                <a:latin typeface="Calibri" pitchFamily="34" charset="0"/>
                <a:ea typeface="Calibri" pitchFamily="34" charset="-122"/>
                <a:cs typeface="Calibri" pitchFamily="34" charset="-120"/>
              </a:rPr>
              <a:t>Ver, proteger y respaldar lo que se construyó</a:t>
            </a:r>
            <a:endParaRPr lang="en-US" sz="2000" dirty="0"/>
          </a:p>
        </p:txBody>
      </p:sp>
      <p:sp>
        <p:nvSpPr>
          <p:cNvPr id="7" name="Shape 5"/>
          <p:cNvSpPr/>
          <p:nvPr/>
        </p:nvSpPr>
        <p:spPr>
          <a:xfrm>
            <a:off x="4297680" y="5577840"/>
            <a:ext cx="274320" cy="274320"/>
          </a:xfrm>
          <a:prstGeom prst="ellipse">
            <a:avLst/>
          </a:prstGeom>
          <a:solidFill>
            <a:srgbClr val="5FD3C8"/>
          </a:solidFill>
          <a:ln w="25400">
            <a:solidFill>
              <a:srgbClr val="5FD3C8"/>
            </a:solidFill>
            <a:prstDash val="solid"/>
          </a:ln>
        </p:spPr>
      </p:sp>
      <p:sp>
        <p:nvSpPr>
          <p:cNvPr id="8" name="Shape 6"/>
          <p:cNvSpPr/>
          <p:nvPr/>
        </p:nvSpPr>
        <p:spPr>
          <a:xfrm>
            <a:off x="4800600" y="5577840"/>
            <a:ext cx="274320" cy="274320"/>
          </a:xfrm>
          <a:prstGeom prst="ellipse">
            <a:avLst/>
          </a:prstGeom>
          <a:solidFill>
            <a:srgbClr val="5FD3C8"/>
          </a:solidFill>
          <a:ln w="25400">
            <a:solidFill>
              <a:srgbClr val="5FD3C8"/>
            </a:solidFill>
            <a:prstDash val="solid"/>
          </a:ln>
        </p:spPr>
      </p:sp>
      <p:sp>
        <p:nvSpPr>
          <p:cNvPr id="9" name="Shape 7"/>
          <p:cNvSpPr/>
          <p:nvPr/>
        </p:nvSpPr>
        <p:spPr>
          <a:xfrm>
            <a:off x="5303520" y="5577840"/>
            <a:ext cx="274320" cy="274320"/>
          </a:xfrm>
          <a:prstGeom prst="ellipse">
            <a:avLst/>
          </a:prstGeom>
          <a:solidFill>
            <a:srgbClr val="5FD3C8"/>
          </a:solidFill>
          <a:ln w="25400">
            <a:solidFill>
              <a:srgbClr val="5FD3C8"/>
            </a:solidFill>
            <a:prstDash val="solid"/>
          </a:ln>
        </p:spPr>
      </p:sp>
      <p:sp>
        <p:nvSpPr>
          <p:cNvPr id="10" name="Shape 8"/>
          <p:cNvSpPr/>
          <p:nvPr/>
        </p:nvSpPr>
        <p:spPr>
          <a:xfrm>
            <a:off x="5806440" y="5577840"/>
            <a:ext cx="274320" cy="274320"/>
          </a:xfrm>
          <a:prstGeom prst="ellipse">
            <a:avLst/>
          </a:prstGeom>
          <a:solidFill>
            <a:srgbClr val="182A34"/>
          </a:solidFill>
          <a:ln w="25400">
            <a:solidFill>
              <a:srgbClr val="3D5C69"/>
            </a:solidFill>
            <a:prstDash val="solid"/>
          </a:ln>
        </p:spPr>
      </p:sp>
      <p:sp>
        <p:nvSpPr>
          <p:cNvPr id="11" name="Shape 9"/>
          <p:cNvSpPr/>
          <p:nvPr/>
        </p:nvSpPr>
        <p:spPr>
          <a:xfrm>
            <a:off x="6309360" y="5577840"/>
            <a:ext cx="274320" cy="274320"/>
          </a:xfrm>
          <a:prstGeom prst="ellipse">
            <a:avLst/>
          </a:prstGeom>
          <a:solidFill>
            <a:srgbClr val="182A34"/>
          </a:solidFill>
          <a:ln w="25400">
            <a:solidFill>
              <a:srgbClr val="3D5C69"/>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Seguridad en 8 capas</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3 · OPERACIÓN</a:t>
            </a:r>
            <a:endParaRPr lang="en-US" sz="1100" dirty="0"/>
          </a:p>
        </p:txBody>
      </p:sp>
      <p:pic>
        <p:nvPicPr>
          <p:cNvPr id="4" name="Image 0" descr="C:\Users\HP\Desktop\crm-empresarial\docs\practica-profesional\presentacion\ppt\img\i20_seguridad_capas.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Defensa en profundidad: si una capa falla, queda la siguiente</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HTTPS con una autoridad certificadora propia</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3 · OPERACIÓN</a:t>
            </a:r>
            <a:endParaRPr lang="en-US" sz="1100" dirty="0"/>
          </a:p>
        </p:txBody>
      </p:sp>
      <p:pic>
        <p:nvPicPr>
          <p:cNvPr id="4" name="Image 0" descr="C:\Users\HP\Desktop\crm-empresarial\docs\practica-profesional\presentacion\ppt\img\i21_ca_propia.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Se confía en la autoridad una sola vez y todo lo que firma queda validado</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Candado en todos los equipos</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3 · OPERACIÓN</a:t>
            </a:r>
            <a:endParaRPr lang="en-US" sz="1100" dirty="0"/>
          </a:p>
        </p:txBody>
      </p:sp>
      <p:sp>
        <p:nvSpPr>
          <p:cNvPr id="4" name="Shape 2"/>
          <p:cNvSpPr/>
          <p:nvPr/>
        </p:nvSpPr>
        <p:spPr>
          <a:xfrm>
            <a:off x="384048" y="1024128"/>
            <a:ext cx="6427543" cy="3616969"/>
          </a:xfrm>
          <a:prstGeom prst="roundRect">
            <a:avLst>
              <a:gd name="adj" fmla="val 2528"/>
            </a:avLst>
          </a:prstGeom>
          <a:solidFill>
            <a:srgbClr val="20343F"/>
          </a:solidFill>
          <a:ln w="12700">
            <a:solidFill>
              <a:srgbClr val="3D5C69"/>
            </a:solidFill>
            <a:prstDash val="solid"/>
          </a:ln>
        </p:spPr>
      </p:sp>
      <p:pic>
        <p:nvPicPr>
          <p:cNvPr id="5" name="Image 0" descr="C:\Users\HP\Desktop\crm-empresarial\docs\practica-profesional\capturas\crm-22-login-fallido-https.png">    </p:cNvPr>
          <p:cNvPicPr>
            <a:picLocks noChangeAspect="1"/>
          </p:cNvPicPr>
          <p:nvPr/>
        </p:nvPicPr>
        <p:blipFill>
          <a:blip r:embed="rId1"/>
          <a:stretch>
            <a:fillRect/>
          </a:stretch>
        </p:blipFill>
        <p:spPr>
          <a:xfrm>
            <a:off x="457200" y="1097280"/>
            <a:ext cx="6281239" cy="3470665"/>
          </a:xfrm>
          <a:prstGeom prst="rect">
            <a:avLst/>
          </a:prstGeom>
        </p:spPr>
      </p:pic>
      <p:sp>
        <p:nvSpPr>
          <p:cNvPr id="6" name="Text 3"/>
          <p:cNvSpPr txBox="1"/>
          <p:nvPr/>
        </p:nvSpPr>
        <p:spPr>
          <a:xfrm>
            <a:off x="365760" y="4705105"/>
            <a:ext cx="6464119"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Acceso por HTTPS con candado; ante credenciales inválidas, mensaje genérico</a:t>
            </a:r>
            <a:endParaRPr lang="en-US" sz="1200" dirty="0"/>
          </a:p>
        </p:txBody>
      </p:sp>
      <p:sp>
        <p:nvSpPr>
          <p:cNvPr id="7" name="Shape 4"/>
          <p:cNvSpPr/>
          <p:nvPr/>
        </p:nvSpPr>
        <p:spPr>
          <a:xfrm>
            <a:off x="7031047" y="1024128"/>
            <a:ext cx="4773857" cy="3616969"/>
          </a:xfrm>
          <a:prstGeom prst="roundRect">
            <a:avLst>
              <a:gd name="adj" fmla="val 2528"/>
            </a:avLst>
          </a:prstGeom>
          <a:solidFill>
            <a:srgbClr val="20343F"/>
          </a:solidFill>
          <a:ln w="12700">
            <a:solidFill>
              <a:srgbClr val="3D5C69"/>
            </a:solidFill>
            <a:prstDash val="solid"/>
          </a:ln>
        </p:spPr>
      </p:sp>
      <p:pic>
        <p:nvPicPr>
          <p:cNvPr id="8" name="Image 1" descr="C:\Users\HP\Desktop\crm-empresarial\docs\practica-profesional\capturas\otro-equipo-01-dos-equipos-lado-a-lado.png">    </p:cNvPr>
          <p:cNvPicPr>
            <a:picLocks noChangeAspect="1"/>
          </p:cNvPicPr>
          <p:nvPr/>
        </p:nvPicPr>
        <p:blipFill>
          <a:blip r:embed="rId2"/>
          <a:stretch>
            <a:fillRect/>
          </a:stretch>
        </p:blipFill>
        <p:spPr>
          <a:xfrm>
            <a:off x="7104199" y="1097280"/>
            <a:ext cx="4627553" cy="3470665"/>
          </a:xfrm>
          <a:prstGeom prst="rect">
            <a:avLst/>
          </a:prstGeom>
        </p:spPr>
      </p:pic>
      <p:sp>
        <p:nvSpPr>
          <p:cNvPr id="9" name="Text 5"/>
          <p:cNvSpPr txBox="1"/>
          <p:nvPr/>
        </p:nvSpPr>
        <p:spPr>
          <a:xfrm>
            <a:off x="7012759" y="4705105"/>
            <a:ext cx="4810433"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Un segundo equipo, en otra red, con candado y funcionando en tiempo real</a:t>
            </a:r>
            <a:endParaRPr lang="en-US" sz="1200" dirty="0"/>
          </a:p>
        </p:txBody>
      </p:sp>
      <p:sp>
        <p:nvSpPr>
          <p:cNvPr id="10" name="Shape 6"/>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11" name="Text 7"/>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Verificado en dos equipos distintos, sin advertencias</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Monitoreo: el centro de operaciones</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3 · OPERACIÓN</a:t>
            </a:r>
            <a:endParaRPr lang="en-US" sz="1100" dirty="0"/>
          </a:p>
        </p:txBody>
      </p:sp>
      <p:pic>
        <p:nvPicPr>
          <p:cNvPr id="4" name="Image 0" descr="C:\Users\HP\Desktop\crm-empresarial\docs\practica-profesional\presentacion\ppt\img\i22_noc.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Un vigilante fuera de las máquinas, y otro que vigila al vigilante</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El panel real, con sus trece monitores</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3 · OPERACIÓN</a:t>
            </a:r>
            <a:endParaRPr lang="en-US" sz="1100" dirty="0"/>
          </a:p>
        </p:txBody>
      </p:sp>
      <p:sp>
        <p:nvSpPr>
          <p:cNvPr id="4" name="Shape 2"/>
          <p:cNvSpPr/>
          <p:nvPr/>
        </p:nvSpPr>
        <p:spPr>
          <a:xfrm>
            <a:off x="908125" y="1024128"/>
            <a:ext cx="5224630" cy="5038344"/>
          </a:xfrm>
          <a:prstGeom prst="roundRect">
            <a:avLst>
              <a:gd name="adj" fmla="val 1815"/>
            </a:avLst>
          </a:prstGeom>
          <a:solidFill>
            <a:srgbClr val="20343F"/>
          </a:solidFill>
          <a:ln w="12700">
            <a:solidFill>
              <a:srgbClr val="3D5C69"/>
            </a:solidFill>
            <a:prstDash val="solid"/>
          </a:ln>
        </p:spPr>
      </p:sp>
      <p:pic>
        <p:nvPicPr>
          <p:cNvPr id="5" name="Image 0" descr="C:\Users\HP\Desktop\crm-empresarial\docs\practica-profesional\capturas\noc-13-lista-trece-monitores.png">    </p:cNvPr>
          <p:cNvPicPr>
            <a:picLocks noChangeAspect="1"/>
          </p:cNvPicPr>
          <p:nvPr/>
        </p:nvPicPr>
        <p:blipFill>
          <a:blip r:embed="rId1"/>
          <a:stretch>
            <a:fillRect/>
          </a:stretch>
        </p:blipFill>
        <p:spPr>
          <a:xfrm>
            <a:off x="981277" y="1097280"/>
            <a:ext cx="5078326" cy="4892040"/>
          </a:xfrm>
          <a:prstGeom prst="rect">
            <a:avLst/>
          </a:prstGeom>
        </p:spPr>
      </p:pic>
      <p:sp>
        <p:nvSpPr>
          <p:cNvPr id="6" name="Text 3"/>
          <p:cNvSpPr txBox="1"/>
          <p:nvPr/>
        </p:nvSpPr>
        <p:spPr>
          <a:xfrm>
            <a:off x="457200" y="6053328"/>
            <a:ext cx="6126480" cy="365760"/>
          </a:xfrm>
          <a:prstGeom prst="rect">
            <a:avLst/>
          </a:prstGeom>
          <a:noFill/>
          <a:ln/>
        </p:spPr>
        <p:txBody>
          <a:bodyPr wrap="square" lIns="0" tIns="0" rIns="0" bIns="0" rtlCol="0" anchor="ctr">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Panel principal de monitoreo</a:t>
            </a:r>
            <a:endParaRPr lang="en-US" sz="1200" dirty="0"/>
          </a:p>
        </p:txBody>
      </p:sp>
      <p:sp>
        <p:nvSpPr>
          <p:cNvPr id="7" name="Shape 4"/>
          <p:cNvSpPr/>
          <p:nvPr/>
        </p:nvSpPr>
        <p:spPr>
          <a:xfrm>
            <a:off x="6858000" y="1097280"/>
            <a:ext cx="4873752" cy="4892040"/>
          </a:xfrm>
          <a:prstGeom prst="roundRect">
            <a:avLst>
              <a:gd name="adj" fmla="val 2627"/>
            </a:avLst>
          </a:prstGeom>
          <a:solidFill>
            <a:srgbClr val="20343F"/>
          </a:solidFill>
          <a:ln w="12700">
            <a:solidFill>
              <a:srgbClr val="3D5C69"/>
            </a:solidFill>
            <a:prstDash val="solid"/>
          </a:ln>
        </p:spPr>
      </p:sp>
      <p:sp>
        <p:nvSpPr>
          <p:cNvPr id="8" name="Text 5"/>
          <p:cNvSpPr txBox="1"/>
          <p:nvPr/>
        </p:nvSpPr>
        <p:spPr>
          <a:xfrm>
            <a:off x="7086600" y="1234440"/>
            <a:ext cx="4434840" cy="548640"/>
          </a:xfrm>
          <a:prstGeom prst="rect">
            <a:avLst/>
          </a:prstGeom>
          <a:noFill/>
          <a:ln/>
        </p:spPr>
        <p:txBody>
          <a:bodyPr wrap="square" lIns="0" tIns="0" rIns="0" bIns="0" rtlCol="0" anchor="ctr">
            <a:normAutofit/>
          </a:bodyPr>
          <a:lstStyle/>
          <a:p>
            <a:pPr indent="0" marL="0">
              <a:buNone/>
            </a:pPr>
            <a:r>
              <a:rPr lang="en-US" sz="2000" b="1" dirty="0">
                <a:solidFill>
                  <a:srgbClr val="5FD3C8"/>
                </a:solidFill>
                <a:latin typeface="Calibri" pitchFamily="34" charset="0"/>
                <a:ea typeface="Calibri" pitchFamily="34" charset="-122"/>
                <a:cs typeface="Calibri" pitchFamily="34" charset="-120"/>
              </a:rPr>
              <a:t>Qué se ve en el panel</a:t>
            </a:r>
            <a:endParaRPr lang="en-US" sz="2000" dirty="0"/>
          </a:p>
        </p:txBody>
      </p:sp>
      <p:sp>
        <p:nvSpPr>
          <p:cNvPr id="9" name="Text 6"/>
          <p:cNvSpPr txBox="1"/>
          <p:nvPr/>
        </p:nvSpPr>
        <p:spPr>
          <a:xfrm>
            <a:off x="7086600" y="1874520"/>
            <a:ext cx="4434840" cy="393192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E8F1F2"/>
                </a:solidFill>
                <a:latin typeface="Calibri" pitchFamily="34" charset="0"/>
                <a:ea typeface="Calibri" pitchFamily="34" charset="-122"/>
                <a:cs typeface="Calibri" pitchFamily="34" charset="-120"/>
              </a:rPr>
              <a:t>Un monitor por elemento vigilado, agrupado por capa: aplicación, base, borde, enlace, infraestructura y respaldo.</a:t>
            </a:r>
            <a:endParaRPr lang="en-US" sz="1700" dirty="0"/>
          </a:p>
          <a:p>
            <a:pPr marL="342900" indent="-342900">
              <a:spcAft>
                <a:spcPts val="1000"/>
              </a:spcAft>
              <a:buSzPct val="100000"/>
              <a:buChar char="•"/>
            </a:pPr>
            <a:r>
              <a:rPr lang="en-US" sz="1700" dirty="0">
                <a:solidFill>
                  <a:srgbClr val="E8F1F2"/>
                </a:solidFill>
                <a:latin typeface="Calibri" pitchFamily="34" charset="0"/>
                <a:ea typeface="Calibri" pitchFamily="34" charset="-122"/>
                <a:cs typeface="Calibri" pitchFamily="34" charset="-120"/>
              </a:rPr>
              <a:t>Los últimos monitores vigilan el respaldo local y el envío a la nube.</a:t>
            </a:r>
            <a:endParaRPr lang="en-US" sz="1700" dirty="0"/>
          </a:p>
          <a:p>
            <a:pPr marL="342900" indent="-342900">
              <a:spcAft>
                <a:spcPts val="1000"/>
              </a:spcAft>
              <a:buSzPct val="100000"/>
              <a:buChar char="•"/>
            </a:pPr>
            <a:r>
              <a:rPr lang="en-US" sz="1700" dirty="0">
                <a:solidFill>
                  <a:srgbClr val="E8F1F2"/>
                </a:solidFill>
                <a:latin typeface="Calibri" pitchFamily="34" charset="0"/>
                <a:ea typeface="Calibri" pitchFamily="34" charset="-122"/>
                <a:cs typeface="Calibri" pitchFamily="34" charset="-120"/>
              </a:rPr>
              <a:t>Cada barra muestra disponibilidad y tiempo de respuesta en el tiempo.</a:t>
            </a:r>
            <a:endParaRPr lang="en-US" sz="17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El centinela detecta una caída real</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3 · OPERACIÓN</a:t>
            </a:r>
            <a:endParaRPr lang="en-US" sz="1100" dirty="0"/>
          </a:p>
        </p:txBody>
      </p:sp>
      <p:sp>
        <p:nvSpPr>
          <p:cNvPr id="4" name="Shape 2"/>
          <p:cNvSpPr/>
          <p:nvPr/>
        </p:nvSpPr>
        <p:spPr>
          <a:xfrm>
            <a:off x="1114117" y="1024128"/>
            <a:ext cx="9960717" cy="4443984"/>
          </a:xfrm>
          <a:prstGeom prst="roundRect">
            <a:avLst>
              <a:gd name="adj" fmla="val 2058"/>
            </a:avLst>
          </a:prstGeom>
          <a:solidFill>
            <a:srgbClr val="20343F"/>
          </a:solidFill>
          <a:ln w="12700">
            <a:solidFill>
              <a:srgbClr val="3D5C69"/>
            </a:solidFill>
            <a:prstDash val="solid"/>
          </a:ln>
        </p:spPr>
      </p:sp>
      <p:pic>
        <p:nvPicPr>
          <p:cNvPr id="5" name="Image 0" descr="C:\Users\HP\Desktop\crm-empresarial\docs\practica-profesional\capturas\p3-centinela-detecta-caida.png">    </p:cNvPr>
          <p:cNvPicPr>
            <a:picLocks noChangeAspect="1"/>
          </p:cNvPicPr>
          <p:nvPr/>
        </p:nvPicPr>
        <p:blipFill>
          <a:blip r:embed="rId1"/>
          <a:stretch>
            <a:fillRect/>
          </a:stretch>
        </p:blipFill>
        <p:spPr>
          <a:xfrm>
            <a:off x="1187269" y="1097280"/>
            <a:ext cx="9814413" cy="4297680"/>
          </a:xfrm>
          <a:prstGeom prst="rect">
            <a:avLst/>
          </a:prstGeom>
        </p:spPr>
      </p:pic>
      <p:sp>
        <p:nvSpPr>
          <p:cNvPr id="6" name="Text 3"/>
          <p:cNvSpPr txBox="1"/>
          <p:nvPr/>
        </p:nvSpPr>
        <p:spPr>
          <a:xfrm>
            <a:off x="1095829" y="5532120"/>
            <a:ext cx="9997293"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Centinela: el monitor principal en rojo, y el servicio de punta a punta en verde</a:t>
            </a:r>
            <a:endParaRPr lang="en-US" sz="1200" dirty="0"/>
          </a:p>
        </p:txBody>
      </p:sp>
      <p:sp>
        <p:nvSpPr>
          <p:cNvPr id="7" name="Shape 4"/>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8" name="Text 5"/>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Cuando el monitor principal cae, el centinela lo señala sin afectar al servicio</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Respaldo: la diferencia entre clon y foto</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3 · OPERACIÓN</a:t>
            </a:r>
            <a:endParaRPr lang="en-US" sz="1100" dirty="0"/>
          </a:p>
        </p:txBody>
      </p:sp>
      <p:pic>
        <p:nvPicPr>
          <p:cNvPr id="4" name="Image 0" descr="C:\Users\HP\Desktop\crm-empresarial\docs\practica-profesional\presentacion\ppt\img\i23_respaldo_flujo.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La redundancia no reemplaza al respaldo: si alguien borra datos, el clon también los borra</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El receptor de respaldos: un buzón de solo escritura</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3 · OPERACIÓN</a:t>
            </a:r>
            <a:endParaRPr lang="en-US" sz="1100" dirty="0"/>
          </a:p>
        </p:txBody>
      </p:sp>
      <p:pic>
        <p:nvPicPr>
          <p:cNvPr id="4" name="Image 0" descr="C:\Users\HP\Desktop\crm-empresarial\docs\practica-profesional\presentacion\ppt\img\i24_nas_buzon.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Probado con 6 intentos maliciosos; los 6 fueron rechazados</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El mapa completo del respaldo</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3 · OPERACIÓN</a:t>
            </a:r>
            <a:endParaRPr lang="en-US" sz="1100" dirty="0"/>
          </a:p>
        </p:txBody>
      </p:sp>
      <p:sp>
        <p:nvSpPr>
          <p:cNvPr id="4" name="Shape 2"/>
          <p:cNvSpPr/>
          <p:nvPr/>
        </p:nvSpPr>
        <p:spPr>
          <a:xfrm>
            <a:off x="1733441" y="1024128"/>
            <a:ext cx="8722070" cy="4764024"/>
          </a:xfrm>
          <a:prstGeom prst="roundRect">
            <a:avLst>
              <a:gd name="adj" fmla="val 1919"/>
            </a:avLst>
          </a:prstGeom>
          <a:solidFill>
            <a:srgbClr val="F4F5F2"/>
          </a:solidFill>
          <a:ln w="12700">
            <a:solidFill>
              <a:srgbClr val="3D5C69"/>
            </a:solidFill>
            <a:prstDash val="solid"/>
          </a:ln>
        </p:spPr>
      </p:sp>
      <p:pic>
        <p:nvPicPr>
          <p:cNvPr id="5" name="Image 0" descr="C:\Users\HP\Desktop\crm-empresarial\docs\practica-profesional\presentacion\ppt\img\12-respaldo-ppt.png">    </p:cNvPr>
          <p:cNvPicPr>
            <a:picLocks noChangeAspect="1"/>
          </p:cNvPicPr>
          <p:nvPr/>
        </p:nvPicPr>
        <p:blipFill>
          <a:blip r:embed="rId1"/>
          <a:stretch>
            <a:fillRect/>
          </a:stretch>
        </p:blipFill>
        <p:spPr>
          <a:xfrm>
            <a:off x="1806593" y="1097280"/>
            <a:ext cx="8575766" cy="4617720"/>
          </a:xfrm>
          <a:prstGeom prst="rect">
            <a:avLst/>
          </a:prstGeom>
        </p:spPr>
      </p:pic>
      <p:sp>
        <p:nvSpPr>
          <p:cNvPr id="6" name="Text 3"/>
          <p:cNvSpPr txBox="1"/>
          <p:nvPr/>
        </p:nvSpPr>
        <p:spPr>
          <a:xfrm>
            <a:off x="1715153" y="5852160"/>
            <a:ext cx="8758646"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Respaldo y recuperación: qué se copia, hacia dónde y cómo se protege</a:t>
            </a:r>
            <a:endParaRPr lang="en-US" sz="12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82A34"/>
        </a:solidFill>
      </p:bgPr>
    </p:bg>
    <p:spTree>
      <p:nvGrpSpPr>
        <p:cNvPr id="1" name=""/>
        <p:cNvGrpSpPr/>
        <p:nvPr/>
      </p:nvGrpSpPr>
      <p:grpSpPr>
        <a:xfrm>
          <a:off x="0" y="0"/>
          <a:ext cx="0" cy="0"/>
          <a:chOff x="0" y="0"/>
          <a:chExt cx="0" cy="0"/>
        </a:xfrm>
      </p:grpSpPr>
      <p:sp>
        <p:nvSpPr>
          <p:cNvPr id="2" name="Shape 0"/>
          <p:cNvSpPr/>
          <p:nvPr/>
        </p:nvSpPr>
        <p:spPr>
          <a:xfrm>
            <a:off x="822960" y="1920240"/>
            <a:ext cx="2926080" cy="2926080"/>
          </a:xfrm>
          <a:prstGeom prst="ellipse">
            <a:avLst/>
          </a:prstGeom>
          <a:solidFill>
            <a:srgbClr val="20343F"/>
          </a:solidFill>
          <a:ln w="50800">
            <a:solidFill>
              <a:srgbClr val="5FD3C8"/>
            </a:solidFill>
            <a:prstDash val="solid"/>
          </a:ln>
        </p:spPr>
      </p:sp>
      <p:sp>
        <p:nvSpPr>
          <p:cNvPr id="3" name="Text 1"/>
          <p:cNvSpPr txBox="1"/>
          <p:nvPr/>
        </p:nvSpPr>
        <p:spPr>
          <a:xfrm>
            <a:off x="822960" y="1920240"/>
            <a:ext cx="2926080" cy="2926080"/>
          </a:xfrm>
          <a:prstGeom prst="rect">
            <a:avLst/>
          </a:prstGeom>
          <a:noFill/>
          <a:ln/>
        </p:spPr>
        <p:txBody>
          <a:bodyPr wrap="square" lIns="0" tIns="0" rIns="0" bIns="0" rtlCol="0" anchor="ctr"/>
          <a:lstStyle/>
          <a:p>
            <a:pPr algn="ctr" indent="0" marL="0">
              <a:buNone/>
            </a:pPr>
            <a:r>
              <a:rPr lang="en-US" sz="13000" b="1" dirty="0">
                <a:solidFill>
                  <a:srgbClr val="5FD3C8"/>
                </a:solidFill>
                <a:latin typeface="Calibri" pitchFamily="34" charset="0"/>
                <a:ea typeface="Calibri" pitchFamily="34" charset="-122"/>
                <a:cs typeface="Calibri" pitchFamily="34" charset="-120"/>
              </a:rPr>
              <a:t>4</a:t>
            </a:r>
            <a:endParaRPr lang="en-US" sz="13000" dirty="0"/>
          </a:p>
        </p:txBody>
      </p:sp>
      <p:sp>
        <p:nvSpPr>
          <p:cNvPr id="4" name="Text 2"/>
          <p:cNvSpPr txBox="1"/>
          <p:nvPr/>
        </p:nvSpPr>
        <p:spPr>
          <a:xfrm>
            <a:off x="4297680" y="2011680"/>
            <a:ext cx="7315200" cy="365760"/>
          </a:xfrm>
          <a:prstGeom prst="rect">
            <a:avLst/>
          </a:prstGeom>
          <a:noFill/>
          <a:ln/>
        </p:spPr>
        <p:txBody>
          <a:bodyPr wrap="square" lIns="0" tIns="0" rIns="0" bIns="0" rtlCol="0" anchor="ctr"/>
          <a:lstStyle/>
          <a:p>
            <a:pPr indent="0" marL="0">
              <a:buNone/>
            </a:pPr>
            <a:r>
              <a:rPr lang="en-US" sz="1600" b="1" spc="400" kern="0" dirty="0">
                <a:solidFill>
                  <a:srgbClr val="F2B35A"/>
                </a:solidFill>
                <a:latin typeface="Calibri" pitchFamily="34" charset="0"/>
                <a:ea typeface="Calibri" pitchFamily="34" charset="-122"/>
                <a:cs typeface="Calibri" pitchFamily="34" charset="-120"/>
              </a:rPr>
              <a:t>ETAPA 4 DE 5</a:t>
            </a:r>
            <a:endParaRPr lang="en-US" sz="1600" dirty="0"/>
          </a:p>
        </p:txBody>
      </p:sp>
      <p:sp>
        <p:nvSpPr>
          <p:cNvPr id="5" name="Text 3"/>
          <p:cNvSpPr txBox="1"/>
          <p:nvPr/>
        </p:nvSpPr>
        <p:spPr>
          <a:xfrm>
            <a:off x="4297680" y="2468880"/>
            <a:ext cx="7315200" cy="1371600"/>
          </a:xfrm>
          <a:prstGeom prst="rect">
            <a:avLst/>
          </a:prstGeom>
          <a:noFill/>
          <a:ln/>
        </p:spPr>
        <p:txBody>
          <a:bodyPr wrap="square" lIns="0" tIns="0" rIns="0" bIns="0" rtlCol="0" anchor="t">
            <a:normAutofit/>
          </a:bodyPr>
          <a:lstStyle/>
          <a:p>
            <a:pPr indent="0" marL="0">
              <a:buNone/>
            </a:pPr>
            <a:r>
              <a:rPr lang="en-US" sz="4400" b="1" dirty="0">
                <a:solidFill>
                  <a:srgbClr val="E8F1F2"/>
                </a:solidFill>
                <a:latin typeface="Calibri" pitchFamily="34" charset="0"/>
                <a:ea typeface="Calibri" pitchFamily="34" charset="-122"/>
                <a:cs typeface="Calibri" pitchFamily="34" charset="-120"/>
              </a:rPr>
              <a:t>Nube</a:t>
            </a:r>
            <a:endParaRPr lang="en-US" sz="4400" dirty="0"/>
          </a:p>
        </p:txBody>
      </p:sp>
      <p:sp>
        <p:nvSpPr>
          <p:cNvPr id="6" name="Text 4"/>
          <p:cNvSpPr txBox="1"/>
          <p:nvPr/>
        </p:nvSpPr>
        <p:spPr>
          <a:xfrm>
            <a:off x="4297680" y="3977640"/>
            <a:ext cx="7315200" cy="914400"/>
          </a:xfrm>
          <a:prstGeom prst="rect">
            <a:avLst/>
          </a:prstGeom>
          <a:noFill/>
          <a:ln/>
        </p:spPr>
        <p:txBody>
          <a:bodyPr wrap="square" lIns="0" tIns="0" rIns="0" bIns="0" rtlCol="0" anchor="t">
            <a:normAutofit/>
          </a:bodyPr>
          <a:lstStyle/>
          <a:p>
            <a:pPr indent="0" marL="0">
              <a:buNone/>
            </a:pPr>
            <a:r>
              <a:rPr lang="en-US" sz="2000" dirty="0">
                <a:solidFill>
                  <a:srgbClr val="9DB2BA"/>
                </a:solidFill>
                <a:latin typeface="Calibri" pitchFamily="34" charset="0"/>
                <a:ea typeface="Calibri" pitchFamily="34" charset="-122"/>
                <a:cs typeface="Calibri" pitchFamily="34" charset="-120"/>
              </a:rPr>
              <a:t>Una copia fuera del propio equipo, para cuando nada más basta</a:t>
            </a:r>
            <a:endParaRPr lang="en-US" sz="2000" dirty="0"/>
          </a:p>
        </p:txBody>
      </p:sp>
      <p:sp>
        <p:nvSpPr>
          <p:cNvPr id="7" name="Shape 5"/>
          <p:cNvSpPr/>
          <p:nvPr/>
        </p:nvSpPr>
        <p:spPr>
          <a:xfrm>
            <a:off x="4297680" y="5577840"/>
            <a:ext cx="274320" cy="274320"/>
          </a:xfrm>
          <a:prstGeom prst="ellipse">
            <a:avLst/>
          </a:prstGeom>
          <a:solidFill>
            <a:srgbClr val="5FD3C8"/>
          </a:solidFill>
          <a:ln w="25400">
            <a:solidFill>
              <a:srgbClr val="5FD3C8"/>
            </a:solidFill>
            <a:prstDash val="solid"/>
          </a:ln>
        </p:spPr>
      </p:sp>
      <p:sp>
        <p:nvSpPr>
          <p:cNvPr id="8" name="Shape 6"/>
          <p:cNvSpPr/>
          <p:nvPr/>
        </p:nvSpPr>
        <p:spPr>
          <a:xfrm>
            <a:off x="4800600" y="5577840"/>
            <a:ext cx="274320" cy="274320"/>
          </a:xfrm>
          <a:prstGeom prst="ellipse">
            <a:avLst/>
          </a:prstGeom>
          <a:solidFill>
            <a:srgbClr val="5FD3C8"/>
          </a:solidFill>
          <a:ln w="25400">
            <a:solidFill>
              <a:srgbClr val="5FD3C8"/>
            </a:solidFill>
            <a:prstDash val="solid"/>
          </a:ln>
        </p:spPr>
      </p:sp>
      <p:sp>
        <p:nvSpPr>
          <p:cNvPr id="9" name="Shape 7"/>
          <p:cNvSpPr/>
          <p:nvPr/>
        </p:nvSpPr>
        <p:spPr>
          <a:xfrm>
            <a:off x="5303520" y="5577840"/>
            <a:ext cx="274320" cy="274320"/>
          </a:xfrm>
          <a:prstGeom prst="ellipse">
            <a:avLst/>
          </a:prstGeom>
          <a:solidFill>
            <a:srgbClr val="5FD3C8"/>
          </a:solidFill>
          <a:ln w="25400">
            <a:solidFill>
              <a:srgbClr val="5FD3C8"/>
            </a:solidFill>
            <a:prstDash val="solid"/>
          </a:ln>
        </p:spPr>
      </p:sp>
      <p:sp>
        <p:nvSpPr>
          <p:cNvPr id="10" name="Shape 8"/>
          <p:cNvSpPr/>
          <p:nvPr/>
        </p:nvSpPr>
        <p:spPr>
          <a:xfrm>
            <a:off x="5806440" y="5577840"/>
            <a:ext cx="274320" cy="274320"/>
          </a:xfrm>
          <a:prstGeom prst="ellipse">
            <a:avLst/>
          </a:prstGeom>
          <a:solidFill>
            <a:srgbClr val="5FD3C8"/>
          </a:solidFill>
          <a:ln w="25400">
            <a:solidFill>
              <a:srgbClr val="5FD3C8"/>
            </a:solidFill>
            <a:prstDash val="solid"/>
          </a:ln>
        </p:spPr>
      </p:sp>
      <p:sp>
        <p:nvSpPr>
          <p:cNvPr id="11" name="Shape 9"/>
          <p:cNvSpPr/>
          <p:nvPr/>
        </p:nvSpPr>
        <p:spPr>
          <a:xfrm>
            <a:off x="6309360" y="5577840"/>
            <a:ext cx="274320" cy="274320"/>
          </a:xfrm>
          <a:prstGeom prst="ellipse">
            <a:avLst/>
          </a:prstGeom>
          <a:solidFill>
            <a:srgbClr val="182A34"/>
          </a:solidFill>
          <a:ln w="25400">
            <a:solidFill>
              <a:srgbClr val="3D5C69"/>
            </a:solidFill>
            <a:prstDash val="soli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La copia fuera del PC: Google Cloud Storage</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4 · NUBE</a:t>
            </a:r>
            <a:endParaRPr lang="en-US" sz="1100" dirty="0"/>
          </a:p>
        </p:txBody>
      </p:sp>
      <p:pic>
        <p:nvPicPr>
          <p:cNvPr id="4" name="Image 0" descr="C:\Users\HP\Desktop\crm-empresarial\docs\practica-profesional\presentacion\ppt\img\i32_cloud_resumen.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Regla 3-2-1 cumplida: tres copias, en dos medios, una fuera del equipo</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Evidencia real: el bucket y sus permisos</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4 · NUBE</a:t>
            </a:r>
            <a:endParaRPr lang="en-US" sz="1100" dirty="0"/>
          </a:p>
        </p:txBody>
      </p:sp>
      <p:sp>
        <p:nvSpPr>
          <p:cNvPr id="4" name="Shape 2"/>
          <p:cNvSpPr/>
          <p:nvPr/>
        </p:nvSpPr>
        <p:spPr>
          <a:xfrm>
            <a:off x="384048" y="1024128"/>
            <a:ext cx="6604432" cy="1909059"/>
          </a:xfrm>
          <a:prstGeom prst="roundRect">
            <a:avLst>
              <a:gd name="adj" fmla="val 4790"/>
            </a:avLst>
          </a:prstGeom>
          <a:solidFill>
            <a:srgbClr val="20343F"/>
          </a:solidFill>
          <a:ln w="12700">
            <a:solidFill>
              <a:srgbClr val="3D5C69"/>
            </a:solidFill>
            <a:prstDash val="solid"/>
          </a:ln>
        </p:spPr>
      </p:sp>
      <p:pic>
        <p:nvPicPr>
          <p:cNvPr id="5" name="Image 0" descr="C:\Users\HP\Desktop\crm-empresarial\docs\practica-profesional\capturas\offsite-01-bucket-con-respaldos.png">    </p:cNvPr>
          <p:cNvPicPr>
            <a:picLocks noChangeAspect="1"/>
          </p:cNvPicPr>
          <p:nvPr/>
        </p:nvPicPr>
        <p:blipFill>
          <a:blip r:embed="rId1"/>
          <a:stretch>
            <a:fillRect/>
          </a:stretch>
        </p:blipFill>
        <p:spPr>
          <a:xfrm>
            <a:off x="457200" y="1097280"/>
            <a:ext cx="6458128" cy="1762755"/>
          </a:xfrm>
          <a:prstGeom prst="rect">
            <a:avLst/>
          </a:prstGeom>
        </p:spPr>
      </p:pic>
      <p:sp>
        <p:nvSpPr>
          <p:cNvPr id="6" name="Text 3"/>
          <p:cNvSpPr txBox="1"/>
          <p:nvPr/>
        </p:nvSpPr>
        <p:spPr>
          <a:xfrm>
            <a:off x="365760" y="2997195"/>
            <a:ext cx="6641008"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Los respaldos reales, ya recibidos en la nube</a:t>
            </a:r>
            <a:endParaRPr lang="en-US" sz="1200" dirty="0"/>
          </a:p>
        </p:txBody>
      </p:sp>
      <p:sp>
        <p:nvSpPr>
          <p:cNvPr id="7" name="Shape 4"/>
          <p:cNvSpPr/>
          <p:nvPr/>
        </p:nvSpPr>
        <p:spPr>
          <a:xfrm>
            <a:off x="7207936" y="1024128"/>
            <a:ext cx="4596968" cy="1909059"/>
          </a:xfrm>
          <a:prstGeom prst="roundRect">
            <a:avLst>
              <a:gd name="adj" fmla="val 4790"/>
            </a:avLst>
          </a:prstGeom>
          <a:solidFill>
            <a:srgbClr val="20343F"/>
          </a:solidFill>
          <a:ln w="12700">
            <a:solidFill>
              <a:srgbClr val="3D5C69"/>
            </a:solidFill>
            <a:prstDash val="solid"/>
          </a:ln>
        </p:spPr>
      </p:sp>
      <p:pic>
        <p:nvPicPr>
          <p:cNvPr id="8" name="Image 1" descr="C:\Users\HP\Desktop\crm-empresarial\docs\practica-profesional\capturas\offsite-02-permisos-solo-crear.png">    </p:cNvPr>
          <p:cNvPicPr>
            <a:picLocks noChangeAspect="1"/>
          </p:cNvPicPr>
          <p:nvPr/>
        </p:nvPicPr>
        <p:blipFill>
          <a:blip r:embed="rId2"/>
          <a:stretch>
            <a:fillRect/>
          </a:stretch>
        </p:blipFill>
        <p:spPr>
          <a:xfrm>
            <a:off x="7281088" y="1097280"/>
            <a:ext cx="4450664" cy="1762755"/>
          </a:xfrm>
          <a:prstGeom prst="rect">
            <a:avLst/>
          </a:prstGeom>
        </p:spPr>
      </p:pic>
      <p:sp>
        <p:nvSpPr>
          <p:cNvPr id="9" name="Text 5"/>
          <p:cNvSpPr txBox="1"/>
          <p:nvPr/>
        </p:nvSpPr>
        <p:spPr>
          <a:xfrm>
            <a:off x="7189648" y="2997195"/>
            <a:ext cx="4633544"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La credencial: solo puede crear, no leer ni borrar</a:t>
            </a:r>
            <a:endParaRPr lang="en-US" sz="1200" dirty="0"/>
          </a:p>
        </p:txBody>
      </p:sp>
      <p:sp>
        <p:nvSpPr>
          <p:cNvPr id="10" name="Shape 6"/>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11" name="Text 7"/>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El acceso está diseñado para que ni un mal uso de la credencial exponga los datos</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Actividad real, mínima y bajo control</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4 · NUBE</a:t>
            </a:r>
            <a:endParaRPr lang="en-US" sz="1100" dirty="0"/>
          </a:p>
        </p:txBody>
      </p:sp>
      <p:sp>
        <p:nvSpPr>
          <p:cNvPr id="4" name="Shape 2"/>
          <p:cNvSpPr/>
          <p:nvPr/>
        </p:nvSpPr>
        <p:spPr>
          <a:xfrm>
            <a:off x="917013" y="1024128"/>
            <a:ext cx="10354927" cy="4443984"/>
          </a:xfrm>
          <a:prstGeom prst="roundRect">
            <a:avLst>
              <a:gd name="adj" fmla="val 2058"/>
            </a:avLst>
          </a:prstGeom>
          <a:solidFill>
            <a:srgbClr val="20343F"/>
          </a:solidFill>
          <a:ln w="12700">
            <a:solidFill>
              <a:srgbClr val="3D5C69"/>
            </a:solidFill>
            <a:prstDash val="solid"/>
          </a:ln>
        </p:spPr>
      </p:sp>
      <p:pic>
        <p:nvPicPr>
          <p:cNvPr id="5" name="Image 0" descr="C:\Users\HP\Desktop\crm-empresarial\docs\practica-profesional\capturas\cloud-05-observabilidad-trafico-1dia.png">    </p:cNvPr>
          <p:cNvPicPr>
            <a:picLocks noChangeAspect="1"/>
          </p:cNvPicPr>
          <p:nvPr/>
        </p:nvPicPr>
        <p:blipFill>
          <a:blip r:embed="rId1"/>
          <a:stretch>
            <a:fillRect/>
          </a:stretch>
        </p:blipFill>
        <p:spPr>
          <a:xfrm>
            <a:off x="990165" y="1097280"/>
            <a:ext cx="10208623" cy="4297680"/>
          </a:xfrm>
          <a:prstGeom prst="rect">
            <a:avLst/>
          </a:prstGeom>
        </p:spPr>
      </p:pic>
      <p:sp>
        <p:nvSpPr>
          <p:cNvPr id="6" name="Text 3"/>
          <p:cNvSpPr txBox="1"/>
          <p:nvPr/>
        </p:nvSpPr>
        <p:spPr>
          <a:xfrm>
            <a:off x="898725" y="5532120"/>
            <a:ext cx="10391503"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Tráfico real de un día: mínimo, tal como se espera de un envío nocturno de un archivo pequeño</a:t>
            </a:r>
            <a:endParaRPr lang="en-US" sz="1200" dirty="0"/>
          </a:p>
        </p:txBody>
      </p:sp>
      <p:sp>
        <p:nvSpPr>
          <p:cNvPr id="7" name="Shape 4"/>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8" name="Text 5"/>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El costo y el riesgo de esta copia son marginales frente a su valor de continuidad</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Ensayado con éxito: restaurar desde la nube</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4 · NUBE</a:t>
            </a:r>
            <a:endParaRPr lang="en-US" sz="1100" dirty="0"/>
          </a:p>
        </p:txBody>
      </p:sp>
      <p:sp>
        <p:nvSpPr>
          <p:cNvPr id="4" name="Shape 2"/>
          <p:cNvSpPr/>
          <p:nvPr/>
        </p:nvSpPr>
        <p:spPr>
          <a:xfrm>
            <a:off x="4223132" y="1024128"/>
            <a:ext cx="3742689" cy="4443984"/>
          </a:xfrm>
          <a:prstGeom prst="roundRect">
            <a:avLst>
              <a:gd name="adj" fmla="val 2443"/>
            </a:avLst>
          </a:prstGeom>
          <a:solidFill>
            <a:srgbClr val="20343F"/>
          </a:solidFill>
          <a:ln w="12700">
            <a:solidFill>
              <a:srgbClr val="3D5C69"/>
            </a:solidFill>
            <a:prstDash val="solid"/>
          </a:ln>
        </p:spPr>
      </p:sp>
      <p:pic>
        <p:nvPicPr>
          <p:cNvPr id="5" name="Image 0" descr="C:\Users\HP\Desktop\crm-empresarial\docs\practica-profesional\capturas\restauracion-02-ensayo-desde-la-nube.png">    </p:cNvPr>
          <p:cNvPicPr>
            <a:picLocks noChangeAspect="1"/>
          </p:cNvPicPr>
          <p:nvPr/>
        </p:nvPicPr>
        <p:blipFill>
          <a:blip r:embed="rId1"/>
          <a:stretch>
            <a:fillRect/>
          </a:stretch>
        </p:blipFill>
        <p:spPr>
          <a:xfrm>
            <a:off x="4296284" y="1097280"/>
            <a:ext cx="3596385" cy="4297680"/>
          </a:xfrm>
          <a:prstGeom prst="rect">
            <a:avLst/>
          </a:prstGeom>
        </p:spPr>
      </p:pic>
      <p:sp>
        <p:nvSpPr>
          <p:cNvPr id="6" name="Text 3"/>
          <p:cNvSpPr txBox="1"/>
          <p:nvPr/>
        </p:nvSpPr>
        <p:spPr>
          <a:xfrm>
            <a:off x="4204844" y="5532120"/>
            <a:ext cx="3779265"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Un respaldo real, descargado de la nube, descifrado y restaurado con éxito en un entorno aislado</a:t>
            </a:r>
            <a:endParaRPr lang="en-US" sz="1200" dirty="0"/>
          </a:p>
        </p:txBody>
      </p:sp>
      <p:sp>
        <p:nvSpPr>
          <p:cNvPr id="7" name="Shape 4"/>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8" name="Text 5"/>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No basta con que la copia exista: se comprobó que efectivamente sirve para recuperar los datos</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82A34"/>
        </a:solidFill>
      </p:bgPr>
    </p:bg>
    <p:spTree>
      <p:nvGrpSpPr>
        <p:cNvPr id="1" name=""/>
        <p:cNvGrpSpPr/>
        <p:nvPr/>
      </p:nvGrpSpPr>
      <p:grpSpPr>
        <a:xfrm>
          <a:off x="0" y="0"/>
          <a:ext cx="0" cy="0"/>
          <a:chOff x="0" y="0"/>
          <a:chExt cx="0" cy="0"/>
        </a:xfrm>
      </p:grpSpPr>
      <p:sp>
        <p:nvSpPr>
          <p:cNvPr id="2" name="Shape 0"/>
          <p:cNvSpPr/>
          <p:nvPr/>
        </p:nvSpPr>
        <p:spPr>
          <a:xfrm>
            <a:off x="822960" y="1920240"/>
            <a:ext cx="2926080" cy="2926080"/>
          </a:xfrm>
          <a:prstGeom prst="ellipse">
            <a:avLst/>
          </a:prstGeom>
          <a:solidFill>
            <a:srgbClr val="20343F"/>
          </a:solidFill>
          <a:ln w="50800">
            <a:solidFill>
              <a:srgbClr val="5FD3C8"/>
            </a:solidFill>
            <a:prstDash val="solid"/>
          </a:ln>
        </p:spPr>
      </p:sp>
      <p:sp>
        <p:nvSpPr>
          <p:cNvPr id="3" name="Text 1"/>
          <p:cNvSpPr txBox="1"/>
          <p:nvPr/>
        </p:nvSpPr>
        <p:spPr>
          <a:xfrm>
            <a:off x="822960" y="1920240"/>
            <a:ext cx="2926080" cy="2926080"/>
          </a:xfrm>
          <a:prstGeom prst="rect">
            <a:avLst/>
          </a:prstGeom>
          <a:noFill/>
          <a:ln/>
        </p:spPr>
        <p:txBody>
          <a:bodyPr wrap="square" lIns="0" tIns="0" rIns="0" bIns="0" rtlCol="0" anchor="ctr"/>
          <a:lstStyle/>
          <a:p>
            <a:pPr algn="ctr" indent="0" marL="0">
              <a:buNone/>
            </a:pPr>
            <a:r>
              <a:rPr lang="en-US" sz="13000" b="1" dirty="0">
                <a:solidFill>
                  <a:srgbClr val="5FD3C8"/>
                </a:solidFill>
                <a:latin typeface="Calibri" pitchFamily="34" charset="0"/>
                <a:ea typeface="Calibri" pitchFamily="34" charset="-122"/>
                <a:cs typeface="Calibri" pitchFamily="34" charset="-120"/>
              </a:rPr>
              <a:t>5</a:t>
            </a:r>
            <a:endParaRPr lang="en-US" sz="13000" dirty="0"/>
          </a:p>
        </p:txBody>
      </p:sp>
      <p:sp>
        <p:nvSpPr>
          <p:cNvPr id="4" name="Text 2"/>
          <p:cNvSpPr txBox="1"/>
          <p:nvPr/>
        </p:nvSpPr>
        <p:spPr>
          <a:xfrm>
            <a:off x="4297680" y="2011680"/>
            <a:ext cx="7315200" cy="365760"/>
          </a:xfrm>
          <a:prstGeom prst="rect">
            <a:avLst/>
          </a:prstGeom>
          <a:noFill/>
          <a:ln/>
        </p:spPr>
        <p:txBody>
          <a:bodyPr wrap="square" lIns="0" tIns="0" rIns="0" bIns="0" rtlCol="0" anchor="ctr"/>
          <a:lstStyle/>
          <a:p>
            <a:pPr indent="0" marL="0">
              <a:buNone/>
            </a:pPr>
            <a:r>
              <a:rPr lang="en-US" sz="1600" b="1" spc="400" kern="0" dirty="0">
                <a:solidFill>
                  <a:srgbClr val="F2B35A"/>
                </a:solidFill>
                <a:latin typeface="Calibri" pitchFamily="34" charset="0"/>
                <a:ea typeface="Calibri" pitchFamily="34" charset="-122"/>
                <a:cs typeface="Calibri" pitchFamily="34" charset="-120"/>
              </a:rPr>
              <a:t>ETAPA 5 DE 5</a:t>
            </a:r>
            <a:endParaRPr lang="en-US" sz="1600" dirty="0"/>
          </a:p>
        </p:txBody>
      </p:sp>
      <p:sp>
        <p:nvSpPr>
          <p:cNvPr id="5" name="Text 3"/>
          <p:cNvSpPr txBox="1"/>
          <p:nvPr/>
        </p:nvSpPr>
        <p:spPr>
          <a:xfrm>
            <a:off x="4297680" y="2468880"/>
            <a:ext cx="7315200" cy="1371600"/>
          </a:xfrm>
          <a:prstGeom prst="rect">
            <a:avLst/>
          </a:prstGeom>
          <a:noFill/>
          <a:ln/>
        </p:spPr>
        <p:txBody>
          <a:bodyPr wrap="square" lIns="0" tIns="0" rIns="0" bIns="0" rtlCol="0" anchor="t">
            <a:normAutofit/>
          </a:bodyPr>
          <a:lstStyle/>
          <a:p>
            <a:pPr indent="0" marL="0">
              <a:buNone/>
            </a:pPr>
            <a:r>
              <a:rPr lang="en-US" sz="4400" b="1" dirty="0">
                <a:solidFill>
                  <a:srgbClr val="E8F1F2"/>
                </a:solidFill>
                <a:latin typeface="Calibri" pitchFamily="34" charset="0"/>
                <a:ea typeface="Calibri" pitchFamily="34" charset="-122"/>
                <a:cs typeface="Calibri" pitchFamily="34" charset="-120"/>
              </a:rPr>
              <a:t>Pruebas de estrés</a:t>
            </a:r>
            <a:endParaRPr lang="en-US" sz="4400" dirty="0"/>
          </a:p>
        </p:txBody>
      </p:sp>
      <p:sp>
        <p:nvSpPr>
          <p:cNvPr id="6" name="Text 4"/>
          <p:cNvSpPr txBox="1"/>
          <p:nvPr/>
        </p:nvSpPr>
        <p:spPr>
          <a:xfrm>
            <a:off x="4297680" y="3977640"/>
            <a:ext cx="7315200" cy="914400"/>
          </a:xfrm>
          <a:prstGeom prst="rect">
            <a:avLst/>
          </a:prstGeom>
          <a:noFill/>
          <a:ln/>
        </p:spPr>
        <p:txBody>
          <a:bodyPr wrap="square" lIns="0" tIns="0" rIns="0" bIns="0" rtlCol="0" anchor="t">
            <a:normAutofit/>
          </a:bodyPr>
          <a:lstStyle/>
          <a:p>
            <a:pPr indent="0" marL="0">
              <a:buNone/>
            </a:pPr>
            <a:r>
              <a:rPr lang="en-US" sz="2000" dirty="0">
                <a:solidFill>
                  <a:srgbClr val="9DB2BA"/>
                </a:solidFill>
                <a:latin typeface="Calibri" pitchFamily="34" charset="0"/>
                <a:ea typeface="Calibri" pitchFamily="34" charset="-122"/>
                <a:cs typeface="Calibri" pitchFamily="34" charset="-120"/>
              </a:rPr>
              <a:t>Forzar fallas reales, medir, y ajustar lo que hizo falta</a:t>
            </a:r>
            <a:endParaRPr lang="en-US" sz="2000" dirty="0"/>
          </a:p>
        </p:txBody>
      </p:sp>
      <p:sp>
        <p:nvSpPr>
          <p:cNvPr id="7" name="Shape 5"/>
          <p:cNvSpPr/>
          <p:nvPr/>
        </p:nvSpPr>
        <p:spPr>
          <a:xfrm>
            <a:off x="4297680" y="5577840"/>
            <a:ext cx="274320" cy="274320"/>
          </a:xfrm>
          <a:prstGeom prst="ellipse">
            <a:avLst/>
          </a:prstGeom>
          <a:solidFill>
            <a:srgbClr val="5FD3C8"/>
          </a:solidFill>
          <a:ln w="25400">
            <a:solidFill>
              <a:srgbClr val="5FD3C8"/>
            </a:solidFill>
            <a:prstDash val="solid"/>
          </a:ln>
        </p:spPr>
      </p:sp>
      <p:sp>
        <p:nvSpPr>
          <p:cNvPr id="8" name="Shape 6"/>
          <p:cNvSpPr/>
          <p:nvPr/>
        </p:nvSpPr>
        <p:spPr>
          <a:xfrm>
            <a:off x="4800600" y="5577840"/>
            <a:ext cx="274320" cy="274320"/>
          </a:xfrm>
          <a:prstGeom prst="ellipse">
            <a:avLst/>
          </a:prstGeom>
          <a:solidFill>
            <a:srgbClr val="5FD3C8"/>
          </a:solidFill>
          <a:ln w="25400">
            <a:solidFill>
              <a:srgbClr val="5FD3C8"/>
            </a:solidFill>
            <a:prstDash val="solid"/>
          </a:ln>
        </p:spPr>
      </p:sp>
      <p:sp>
        <p:nvSpPr>
          <p:cNvPr id="9" name="Shape 7"/>
          <p:cNvSpPr/>
          <p:nvPr/>
        </p:nvSpPr>
        <p:spPr>
          <a:xfrm>
            <a:off x="5303520" y="5577840"/>
            <a:ext cx="274320" cy="274320"/>
          </a:xfrm>
          <a:prstGeom prst="ellipse">
            <a:avLst/>
          </a:prstGeom>
          <a:solidFill>
            <a:srgbClr val="5FD3C8"/>
          </a:solidFill>
          <a:ln w="25400">
            <a:solidFill>
              <a:srgbClr val="5FD3C8"/>
            </a:solidFill>
            <a:prstDash val="solid"/>
          </a:ln>
        </p:spPr>
      </p:sp>
      <p:sp>
        <p:nvSpPr>
          <p:cNvPr id="10" name="Shape 8"/>
          <p:cNvSpPr/>
          <p:nvPr/>
        </p:nvSpPr>
        <p:spPr>
          <a:xfrm>
            <a:off x="5806440" y="5577840"/>
            <a:ext cx="274320" cy="274320"/>
          </a:xfrm>
          <a:prstGeom prst="ellipse">
            <a:avLst/>
          </a:prstGeom>
          <a:solidFill>
            <a:srgbClr val="5FD3C8"/>
          </a:solidFill>
          <a:ln w="25400">
            <a:solidFill>
              <a:srgbClr val="5FD3C8"/>
            </a:solidFill>
            <a:prstDash val="solid"/>
          </a:ln>
        </p:spPr>
      </p:sp>
      <p:sp>
        <p:nvSpPr>
          <p:cNvPr id="11" name="Shape 9"/>
          <p:cNvSpPr/>
          <p:nvPr/>
        </p:nvSpPr>
        <p:spPr>
          <a:xfrm>
            <a:off x="6309360" y="5577840"/>
            <a:ext cx="274320" cy="274320"/>
          </a:xfrm>
          <a:prstGeom prst="ellipse">
            <a:avLst/>
          </a:prstGeom>
          <a:solidFill>
            <a:srgbClr val="5FD3C8"/>
          </a:solidFill>
          <a:ln w="25400">
            <a:solidFill>
              <a:srgbClr val="5FD3C8"/>
            </a:solidFill>
            <a:prstDash val="soli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Cómo se probó</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pic>
        <p:nvPicPr>
          <p:cNvPr id="4" name="Image 0" descr="C:\Users\HP\Desktop\crm-empresarial\docs\practica-profesional\presentacion\ppt\img\i25_metodologia_pruebas.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Fallas reales con el sistema abierto y en uso; horas tomadas de registros reales, no estimadas</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P1: se apaga el núcleo activo</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pic>
        <p:nvPicPr>
          <p:cNvPr id="4" name="Image 0" descr="C:\Users\HP\Desktop\crm-empresarial\docs\practica-profesional\presentacion\ppt\img\i27_p1_timeline.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26,4 segundos hasta tener escrituras; la promoción en sí duró 0,3 segundos</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P1: el sistema, sin dejar de responder</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sp>
        <p:nvSpPr>
          <p:cNvPr id="4" name="Shape 2"/>
          <p:cNvSpPr/>
          <p:nvPr/>
        </p:nvSpPr>
        <p:spPr>
          <a:xfrm>
            <a:off x="384048" y="1024128"/>
            <a:ext cx="5979725" cy="2534400"/>
          </a:xfrm>
          <a:prstGeom prst="roundRect">
            <a:avLst>
              <a:gd name="adj" fmla="val 3608"/>
            </a:avLst>
          </a:prstGeom>
          <a:solidFill>
            <a:srgbClr val="20343F"/>
          </a:solidFill>
          <a:ln w="12700">
            <a:solidFill>
              <a:srgbClr val="3D5C69"/>
            </a:solidFill>
            <a:prstDash val="solid"/>
          </a:ln>
        </p:spPr>
      </p:sp>
      <p:pic>
        <p:nvPicPr>
          <p:cNvPr id="5" name="Image 0" descr="C:\Users\HP\Desktop\crm-empresarial\docs\practica-profesional\capturas\p1-crm-funcionando.png">    </p:cNvPr>
          <p:cNvPicPr>
            <a:picLocks noChangeAspect="1"/>
          </p:cNvPicPr>
          <p:nvPr/>
        </p:nvPicPr>
        <p:blipFill>
          <a:blip r:embed="rId1"/>
          <a:stretch>
            <a:fillRect/>
          </a:stretch>
        </p:blipFill>
        <p:spPr>
          <a:xfrm>
            <a:off x="457200" y="1097280"/>
            <a:ext cx="5833421" cy="2388096"/>
          </a:xfrm>
          <a:prstGeom prst="rect">
            <a:avLst/>
          </a:prstGeom>
        </p:spPr>
      </p:pic>
      <p:sp>
        <p:nvSpPr>
          <p:cNvPr id="6" name="Text 3"/>
          <p:cNvSpPr txBox="1"/>
          <p:nvPr/>
        </p:nvSpPr>
        <p:spPr>
          <a:xfrm>
            <a:off x="365760" y="3622536"/>
            <a:ext cx="6016301"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El sistema responde con el núcleo principal apagado</a:t>
            </a:r>
            <a:endParaRPr lang="en-US" sz="1200" dirty="0"/>
          </a:p>
        </p:txBody>
      </p:sp>
      <p:sp>
        <p:nvSpPr>
          <p:cNvPr id="7" name="Shape 4"/>
          <p:cNvSpPr/>
          <p:nvPr/>
        </p:nvSpPr>
        <p:spPr>
          <a:xfrm>
            <a:off x="6583229" y="1024128"/>
            <a:ext cx="5221675" cy="2534400"/>
          </a:xfrm>
          <a:prstGeom prst="roundRect">
            <a:avLst>
              <a:gd name="adj" fmla="val 3608"/>
            </a:avLst>
          </a:prstGeom>
          <a:solidFill>
            <a:srgbClr val="20343F"/>
          </a:solidFill>
          <a:ln w="12700">
            <a:solidFill>
              <a:srgbClr val="3D5C69"/>
            </a:solidFill>
            <a:prstDash val="solid"/>
          </a:ln>
        </p:spPr>
      </p:sp>
      <p:pic>
        <p:nvPicPr>
          <p:cNvPr id="8" name="Image 1" descr="C:\Users\HP\Desktop\crm-empresarial\docs\practica-profesional\capturas\p1-kuma-core-apagado.png">    </p:cNvPr>
          <p:cNvPicPr>
            <a:picLocks noChangeAspect="1"/>
          </p:cNvPicPr>
          <p:nvPr/>
        </p:nvPicPr>
        <p:blipFill>
          <a:blip r:embed="rId2"/>
          <a:stretch>
            <a:fillRect/>
          </a:stretch>
        </p:blipFill>
        <p:spPr>
          <a:xfrm>
            <a:off x="6656381" y="1097280"/>
            <a:ext cx="5075371" cy="2388096"/>
          </a:xfrm>
          <a:prstGeom prst="rect">
            <a:avLst/>
          </a:prstGeom>
        </p:spPr>
      </p:pic>
      <p:sp>
        <p:nvSpPr>
          <p:cNvPr id="9" name="Text 5"/>
          <p:cNvSpPr txBox="1"/>
          <p:nvPr/>
        </p:nvSpPr>
        <p:spPr>
          <a:xfrm>
            <a:off x="6564941" y="3622536"/>
            <a:ext cx="5258251"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El monitoreo marca en rojo solo lo que dejó de responder</a:t>
            </a:r>
            <a:endParaRPr lang="en-US" sz="1200" dirty="0"/>
          </a:p>
        </p:txBody>
      </p:sp>
      <p:sp>
        <p:nvSpPr>
          <p:cNvPr id="10" name="Shape 6"/>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11" name="Text 7"/>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Con el núcleo activo apagado, el servicio no se detuvo</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P2: el borde, en unos 3 segundos</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sp>
        <p:nvSpPr>
          <p:cNvPr id="4" name="Shape 2"/>
          <p:cNvSpPr/>
          <p:nvPr/>
        </p:nvSpPr>
        <p:spPr>
          <a:xfrm>
            <a:off x="1180166" y="1024128"/>
            <a:ext cx="9828620" cy="4764024"/>
          </a:xfrm>
          <a:prstGeom prst="roundRect">
            <a:avLst>
              <a:gd name="adj" fmla="val 1919"/>
            </a:avLst>
          </a:prstGeom>
          <a:solidFill>
            <a:srgbClr val="F4F5F2"/>
          </a:solidFill>
          <a:ln w="12700">
            <a:solidFill>
              <a:srgbClr val="3D5C69"/>
            </a:solidFill>
            <a:prstDash val="solid"/>
          </a:ln>
        </p:spPr>
      </p:sp>
      <p:pic>
        <p:nvPicPr>
          <p:cNvPr id="5" name="Image 0" descr="C:\Users\HP\Desktop\crm-empresarial\docs\practica-profesional\diagramas\10-conmutacion-borde-linea-de-tiempo.png">    </p:cNvPr>
          <p:cNvPicPr>
            <a:picLocks noChangeAspect="1"/>
          </p:cNvPicPr>
          <p:nvPr/>
        </p:nvPicPr>
        <p:blipFill>
          <a:blip r:embed="rId1"/>
          <a:stretch>
            <a:fillRect/>
          </a:stretch>
        </p:blipFill>
        <p:spPr>
          <a:xfrm>
            <a:off x="1253318" y="1097280"/>
            <a:ext cx="9682316" cy="4617720"/>
          </a:xfrm>
          <a:prstGeom prst="rect">
            <a:avLst/>
          </a:prstGeom>
        </p:spPr>
      </p:pic>
      <p:sp>
        <p:nvSpPr>
          <p:cNvPr id="6" name="Text 3"/>
          <p:cNvSpPr txBox="1"/>
          <p:nvPr/>
        </p:nvSpPr>
        <p:spPr>
          <a:xfrm>
            <a:off x="1161878" y="5852160"/>
            <a:ext cx="9865196"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El apagado del borde y la recuperación en el otro, sin corte visible para el usuario</a:t>
            </a:r>
            <a:endParaRPr lang="en-US" sz="12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P3: la prueba extrema</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pic>
        <p:nvPicPr>
          <p:cNvPr id="4" name="Image 0" descr="C:\Users\HP\Desktop\crm-empresarial\docs\practica-profesional\presentacion\ppt\img\i28_p3_extrema.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Aunque falle el monitoreo, el centinela lo detecta y el servicio sigue</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P4: mantenimiento sin cortar nada</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sp>
        <p:nvSpPr>
          <p:cNvPr id="4" name="Shape 2"/>
          <p:cNvSpPr/>
          <p:nvPr/>
        </p:nvSpPr>
        <p:spPr>
          <a:xfrm>
            <a:off x="457200" y="1143000"/>
            <a:ext cx="3611880" cy="2331720"/>
          </a:xfrm>
          <a:prstGeom prst="roundRect">
            <a:avLst>
              <a:gd name="adj" fmla="val 6275"/>
            </a:avLst>
          </a:prstGeom>
          <a:solidFill>
            <a:srgbClr val="20343F"/>
          </a:solidFill>
          <a:ln w="31750">
            <a:solidFill>
              <a:srgbClr val="8EE6B8"/>
            </a:solidFill>
            <a:prstDash val="solid"/>
          </a:ln>
        </p:spPr>
      </p:sp>
      <p:sp>
        <p:nvSpPr>
          <p:cNvPr id="5" name="Text 3"/>
          <p:cNvSpPr txBox="1"/>
          <p:nvPr/>
        </p:nvSpPr>
        <p:spPr>
          <a:xfrm>
            <a:off x="457200" y="1280160"/>
            <a:ext cx="3611880" cy="1097280"/>
          </a:xfrm>
          <a:prstGeom prst="rect">
            <a:avLst/>
          </a:prstGeom>
          <a:noFill/>
          <a:ln/>
        </p:spPr>
        <p:txBody>
          <a:bodyPr wrap="square" lIns="0" tIns="0" rIns="0" bIns="0" rtlCol="0" anchor="ctr">
            <a:normAutofit/>
          </a:bodyPr>
          <a:lstStyle/>
          <a:p>
            <a:pPr algn="ctr" indent="0" marL="0">
              <a:buNone/>
            </a:pPr>
            <a:r>
              <a:rPr lang="en-US" sz="4000" b="1" dirty="0">
                <a:solidFill>
                  <a:srgbClr val="8EE6B8"/>
                </a:solidFill>
                <a:latin typeface="Calibri" pitchFamily="34" charset="0"/>
                <a:ea typeface="Calibri" pitchFamily="34" charset="-122"/>
                <a:cs typeface="Calibri" pitchFamily="34" charset="-120"/>
              </a:rPr>
              <a:t>≈ 4,7 s</a:t>
            </a:r>
            <a:endParaRPr lang="en-US" sz="4000" dirty="0"/>
          </a:p>
        </p:txBody>
      </p:sp>
      <p:sp>
        <p:nvSpPr>
          <p:cNvPr id="6" name="Text 4"/>
          <p:cNvSpPr txBox="1"/>
          <p:nvPr/>
        </p:nvSpPr>
        <p:spPr>
          <a:xfrm>
            <a:off x="594360" y="2423160"/>
            <a:ext cx="3337560" cy="914400"/>
          </a:xfrm>
          <a:prstGeom prst="rect">
            <a:avLst/>
          </a:prstGeom>
          <a:noFill/>
          <a:ln/>
        </p:spPr>
        <p:txBody>
          <a:bodyPr wrap="square" lIns="0" tIns="0" rIns="0" bIns="0" rtlCol="0" anchor="t">
            <a:normAutofit/>
          </a:bodyPr>
          <a:lstStyle/>
          <a:p>
            <a:pPr algn="ctr" indent="0" marL="0">
              <a:buNone/>
            </a:pPr>
            <a:r>
              <a:rPr lang="en-US" sz="1500" dirty="0">
                <a:solidFill>
                  <a:srgbClr val="E8F1F2"/>
                </a:solidFill>
                <a:latin typeface="Calibri" pitchFamily="34" charset="0"/>
                <a:ea typeface="Calibri" pitchFamily="34" charset="-122"/>
                <a:cs typeface="Calibri" pitchFamily="34" charset="-120"/>
              </a:rPr>
              <a:t>de la orden a tener el nuevo líder de la base</a:t>
            </a:r>
            <a:endParaRPr lang="en-US" sz="1500" dirty="0"/>
          </a:p>
        </p:txBody>
      </p:sp>
      <p:sp>
        <p:nvSpPr>
          <p:cNvPr id="7" name="Shape 5"/>
          <p:cNvSpPr/>
          <p:nvPr/>
        </p:nvSpPr>
        <p:spPr>
          <a:xfrm>
            <a:off x="4288536" y="1143000"/>
            <a:ext cx="3611880" cy="2331720"/>
          </a:xfrm>
          <a:prstGeom prst="roundRect">
            <a:avLst>
              <a:gd name="adj" fmla="val 6275"/>
            </a:avLst>
          </a:prstGeom>
          <a:solidFill>
            <a:srgbClr val="20343F"/>
          </a:solidFill>
          <a:ln w="31750">
            <a:solidFill>
              <a:srgbClr val="5FD3C8"/>
            </a:solidFill>
            <a:prstDash val="solid"/>
          </a:ln>
        </p:spPr>
      </p:sp>
      <p:sp>
        <p:nvSpPr>
          <p:cNvPr id="8" name="Text 6"/>
          <p:cNvSpPr txBox="1"/>
          <p:nvPr/>
        </p:nvSpPr>
        <p:spPr>
          <a:xfrm>
            <a:off x="4288536" y="1280160"/>
            <a:ext cx="3611880" cy="1097280"/>
          </a:xfrm>
          <a:prstGeom prst="rect">
            <a:avLst/>
          </a:prstGeom>
          <a:noFill/>
          <a:ln/>
        </p:spPr>
        <p:txBody>
          <a:bodyPr wrap="square" lIns="0" tIns="0" rIns="0" bIns="0" rtlCol="0" anchor="ctr">
            <a:normAutofit/>
          </a:bodyPr>
          <a:lstStyle/>
          <a:p>
            <a:pPr algn="ctr" indent="0" marL="0">
              <a:buNone/>
            </a:pPr>
            <a:r>
              <a:rPr lang="en-US" sz="4000" b="1" dirty="0">
                <a:solidFill>
                  <a:srgbClr val="5FD3C8"/>
                </a:solidFill>
                <a:latin typeface="Calibri" pitchFamily="34" charset="0"/>
                <a:ea typeface="Calibri" pitchFamily="34" charset="-122"/>
                <a:cs typeface="Calibri" pitchFamily="34" charset="-120"/>
              </a:rPr>
              <a:t>100 %</a:t>
            </a:r>
            <a:endParaRPr lang="en-US" sz="4000" dirty="0"/>
          </a:p>
        </p:txBody>
      </p:sp>
      <p:sp>
        <p:nvSpPr>
          <p:cNvPr id="9" name="Text 7"/>
          <p:cNvSpPr txBox="1"/>
          <p:nvPr/>
        </p:nvSpPr>
        <p:spPr>
          <a:xfrm>
            <a:off x="4425696" y="2423160"/>
            <a:ext cx="3337560" cy="914400"/>
          </a:xfrm>
          <a:prstGeom prst="rect">
            <a:avLst/>
          </a:prstGeom>
          <a:noFill/>
          <a:ln/>
        </p:spPr>
        <p:txBody>
          <a:bodyPr wrap="square" lIns="0" tIns="0" rIns="0" bIns="0" rtlCol="0" anchor="t">
            <a:normAutofit/>
          </a:bodyPr>
          <a:lstStyle/>
          <a:p>
            <a:pPr algn="ctr" indent="0" marL="0">
              <a:buNone/>
            </a:pPr>
            <a:r>
              <a:rPr lang="en-US" sz="1500" dirty="0">
                <a:solidFill>
                  <a:srgbClr val="E8F1F2"/>
                </a:solidFill>
                <a:latin typeface="Calibri" pitchFamily="34" charset="0"/>
                <a:ea typeface="Calibri" pitchFamily="34" charset="-122"/>
                <a:cs typeface="Calibri" pitchFamily="34" charset="-120"/>
              </a:rPr>
              <a:t>de las verificaciones correctas durante el cambio</a:t>
            </a:r>
            <a:endParaRPr lang="en-US" sz="1500" dirty="0"/>
          </a:p>
        </p:txBody>
      </p:sp>
      <p:sp>
        <p:nvSpPr>
          <p:cNvPr id="10" name="Shape 8"/>
          <p:cNvSpPr/>
          <p:nvPr/>
        </p:nvSpPr>
        <p:spPr>
          <a:xfrm>
            <a:off x="8119872" y="1143000"/>
            <a:ext cx="3611880" cy="2331720"/>
          </a:xfrm>
          <a:prstGeom prst="roundRect">
            <a:avLst>
              <a:gd name="adj" fmla="val 6275"/>
            </a:avLst>
          </a:prstGeom>
          <a:solidFill>
            <a:srgbClr val="20343F"/>
          </a:solidFill>
          <a:ln w="31750">
            <a:solidFill>
              <a:srgbClr val="F2B35A"/>
            </a:solidFill>
            <a:prstDash val="solid"/>
          </a:ln>
        </p:spPr>
      </p:sp>
      <p:sp>
        <p:nvSpPr>
          <p:cNvPr id="11" name="Text 9"/>
          <p:cNvSpPr txBox="1"/>
          <p:nvPr/>
        </p:nvSpPr>
        <p:spPr>
          <a:xfrm>
            <a:off x="8119872" y="1280160"/>
            <a:ext cx="3611880" cy="1097280"/>
          </a:xfrm>
          <a:prstGeom prst="rect">
            <a:avLst/>
          </a:prstGeom>
          <a:noFill/>
          <a:ln/>
        </p:spPr>
        <p:txBody>
          <a:bodyPr wrap="square" lIns="0" tIns="0" rIns="0" bIns="0" rtlCol="0" anchor="ctr">
            <a:normAutofit/>
          </a:bodyPr>
          <a:lstStyle/>
          <a:p>
            <a:pPr algn="ctr" indent="0" marL="0">
              <a:buNone/>
            </a:pPr>
            <a:r>
              <a:rPr lang="en-US" sz="4000" b="1" dirty="0">
                <a:solidFill>
                  <a:srgbClr val="F2B35A"/>
                </a:solidFill>
                <a:latin typeface="Calibri" pitchFamily="34" charset="0"/>
                <a:ea typeface="Calibri" pitchFamily="34" charset="-122"/>
                <a:cs typeface="Calibri" pitchFamily="34" charset="-120"/>
              </a:rPr>
              <a:t>0</a:t>
            </a:r>
            <a:endParaRPr lang="en-US" sz="4000" dirty="0"/>
          </a:p>
        </p:txBody>
      </p:sp>
      <p:sp>
        <p:nvSpPr>
          <p:cNvPr id="12" name="Text 10"/>
          <p:cNvSpPr txBox="1"/>
          <p:nvPr/>
        </p:nvSpPr>
        <p:spPr>
          <a:xfrm>
            <a:off x="8257032" y="2423160"/>
            <a:ext cx="3337560" cy="914400"/>
          </a:xfrm>
          <a:prstGeom prst="rect">
            <a:avLst/>
          </a:prstGeom>
          <a:noFill/>
          <a:ln/>
        </p:spPr>
        <p:txBody>
          <a:bodyPr wrap="square" lIns="0" tIns="0" rIns="0" bIns="0" rtlCol="0" anchor="t">
            <a:normAutofit/>
          </a:bodyPr>
          <a:lstStyle/>
          <a:p>
            <a:pPr algn="ctr" indent="0" marL="0">
              <a:buNone/>
            </a:pPr>
            <a:r>
              <a:rPr lang="en-US" sz="1500" dirty="0">
                <a:solidFill>
                  <a:srgbClr val="E8F1F2"/>
                </a:solidFill>
                <a:latin typeface="Calibri" pitchFamily="34" charset="0"/>
                <a:ea typeface="Calibri" pitchFamily="34" charset="-122"/>
                <a:cs typeface="Calibri" pitchFamily="34" charset="-120"/>
              </a:rPr>
              <a:t>interrupciones visibles para el usuario</a:t>
            </a:r>
            <a:endParaRPr lang="en-US" sz="1500" dirty="0"/>
          </a:p>
        </p:txBody>
      </p:sp>
      <p:sp>
        <p:nvSpPr>
          <p:cNvPr id="13" name="Shape 11"/>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14" name="Text 12"/>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Esta prueba no apaga nada: se ordena un cambio de líder planificado, para respaldar un núcleo desde su papel de réplica, sin que el líder participe.</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El hallazgo que forzó el rediseño del núcleo</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pic>
        <p:nvPicPr>
          <p:cNvPr id="4" name="Image 0" descr="C:\Users\HP\Desktop\crm-empresarial\docs\practica-profesional\presentacion\ppt\img\i16_nucleo_antes_despues.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La primera versión de la redundancia era solo aparente: una prueba real lo mostró, y se corrigió</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Segunda tanda: qué faltaba cerrar</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pic>
        <p:nvPicPr>
          <p:cNvPr id="4" name="Image 0" descr="C:\Users\HP\Desktop\crm-empresarial\docs\practica-profesional\presentacion\ppt\img\i33_pruebas_segunda_tanda.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Restauración sin ensayar, disco no simulado, y el árbitro tolerando solo una falla</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P5: se aísla al líder de la red, sin apagarlo</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sp>
        <p:nvSpPr>
          <p:cNvPr id="4" name="Shape 2"/>
          <p:cNvSpPr/>
          <p:nvPr/>
        </p:nvSpPr>
        <p:spPr>
          <a:xfrm>
            <a:off x="457200" y="1143000"/>
            <a:ext cx="3611880" cy="2331720"/>
          </a:xfrm>
          <a:prstGeom prst="roundRect">
            <a:avLst>
              <a:gd name="adj" fmla="val 6275"/>
            </a:avLst>
          </a:prstGeom>
          <a:solidFill>
            <a:srgbClr val="20343F"/>
          </a:solidFill>
          <a:ln w="31750">
            <a:solidFill>
              <a:srgbClr val="A99CF0"/>
            </a:solidFill>
            <a:prstDash val="solid"/>
          </a:ln>
        </p:spPr>
      </p:sp>
      <p:sp>
        <p:nvSpPr>
          <p:cNvPr id="5" name="Text 3"/>
          <p:cNvSpPr txBox="1"/>
          <p:nvPr/>
        </p:nvSpPr>
        <p:spPr>
          <a:xfrm>
            <a:off x="457200" y="1280160"/>
            <a:ext cx="3611880" cy="1097280"/>
          </a:xfrm>
          <a:prstGeom prst="rect">
            <a:avLst/>
          </a:prstGeom>
          <a:noFill/>
          <a:ln/>
        </p:spPr>
        <p:txBody>
          <a:bodyPr wrap="square" lIns="0" tIns="0" rIns="0" bIns="0" rtlCol="0" anchor="ctr">
            <a:normAutofit/>
          </a:bodyPr>
          <a:lstStyle/>
          <a:p>
            <a:pPr algn="ctr" indent="0" marL="0">
              <a:buNone/>
            </a:pPr>
            <a:r>
              <a:rPr lang="en-US" sz="4000" b="1" dirty="0">
                <a:solidFill>
                  <a:srgbClr val="A99CF0"/>
                </a:solidFill>
                <a:latin typeface="Calibri" pitchFamily="34" charset="0"/>
                <a:ea typeface="Calibri" pitchFamily="34" charset="-122"/>
                <a:cs typeface="Calibri" pitchFamily="34" charset="-120"/>
              </a:rPr>
              <a:t>1,0 s</a:t>
            </a:r>
            <a:endParaRPr lang="en-US" sz="4000" dirty="0"/>
          </a:p>
        </p:txBody>
      </p:sp>
      <p:sp>
        <p:nvSpPr>
          <p:cNvPr id="6" name="Text 4"/>
          <p:cNvSpPr txBox="1"/>
          <p:nvPr/>
        </p:nvSpPr>
        <p:spPr>
          <a:xfrm>
            <a:off x="594360" y="2423160"/>
            <a:ext cx="3337560" cy="914400"/>
          </a:xfrm>
          <a:prstGeom prst="rect">
            <a:avLst/>
          </a:prstGeom>
          <a:noFill/>
          <a:ln/>
        </p:spPr>
        <p:txBody>
          <a:bodyPr wrap="square" lIns="0" tIns="0" rIns="0" bIns="0" rtlCol="0" anchor="t">
            <a:normAutofit/>
          </a:bodyPr>
          <a:lstStyle/>
          <a:p>
            <a:pPr algn="ctr" indent="0" marL="0">
              <a:buNone/>
            </a:pPr>
            <a:r>
              <a:rPr lang="en-US" sz="1500" dirty="0">
                <a:solidFill>
                  <a:srgbClr val="E8F1F2"/>
                </a:solidFill>
                <a:latin typeface="Calibri" pitchFamily="34" charset="0"/>
                <a:ea typeface="Calibri" pitchFamily="34" charset="-122"/>
                <a:cs typeface="Calibri" pitchFamily="34" charset="-120"/>
              </a:rPr>
              <a:t>el nodo aislado deja de poder escribir</a:t>
            </a:r>
            <a:endParaRPr lang="en-US" sz="1500" dirty="0"/>
          </a:p>
        </p:txBody>
      </p:sp>
      <p:sp>
        <p:nvSpPr>
          <p:cNvPr id="7" name="Shape 5"/>
          <p:cNvSpPr/>
          <p:nvPr/>
        </p:nvSpPr>
        <p:spPr>
          <a:xfrm>
            <a:off x="4288536" y="1143000"/>
            <a:ext cx="3611880" cy="2331720"/>
          </a:xfrm>
          <a:prstGeom prst="roundRect">
            <a:avLst>
              <a:gd name="adj" fmla="val 6275"/>
            </a:avLst>
          </a:prstGeom>
          <a:solidFill>
            <a:srgbClr val="20343F"/>
          </a:solidFill>
          <a:ln w="31750">
            <a:solidFill>
              <a:srgbClr val="5FD3C8"/>
            </a:solidFill>
            <a:prstDash val="solid"/>
          </a:ln>
        </p:spPr>
      </p:sp>
      <p:sp>
        <p:nvSpPr>
          <p:cNvPr id="8" name="Text 6"/>
          <p:cNvSpPr txBox="1"/>
          <p:nvPr/>
        </p:nvSpPr>
        <p:spPr>
          <a:xfrm>
            <a:off x="4288536" y="1280160"/>
            <a:ext cx="3611880" cy="1097280"/>
          </a:xfrm>
          <a:prstGeom prst="rect">
            <a:avLst/>
          </a:prstGeom>
          <a:noFill/>
          <a:ln/>
        </p:spPr>
        <p:txBody>
          <a:bodyPr wrap="square" lIns="0" tIns="0" rIns="0" bIns="0" rtlCol="0" anchor="ctr">
            <a:normAutofit/>
          </a:bodyPr>
          <a:lstStyle/>
          <a:p>
            <a:pPr algn="ctr" indent="0" marL="0">
              <a:buNone/>
            </a:pPr>
            <a:r>
              <a:rPr lang="en-US" sz="4000" b="1" dirty="0">
                <a:solidFill>
                  <a:srgbClr val="5FD3C8"/>
                </a:solidFill>
                <a:latin typeface="Calibri" pitchFamily="34" charset="0"/>
                <a:ea typeface="Calibri" pitchFamily="34" charset="-122"/>
                <a:cs typeface="Calibri" pitchFamily="34" charset="-120"/>
              </a:rPr>
              <a:t>27,6 s</a:t>
            </a:r>
            <a:endParaRPr lang="en-US" sz="4000" dirty="0"/>
          </a:p>
        </p:txBody>
      </p:sp>
      <p:sp>
        <p:nvSpPr>
          <p:cNvPr id="9" name="Text 7"/>
          <p:cNvSpPr txBox="1"/>
          <p:nvPr/>
        </p:nvSpPr>
        <p:spPr>
          <a:xfrm>
            <a:off x="4425696" y="2423160"/>
            <a:ext cx="3337560" cy="914400"/>
          </a:xfrm>
          <a:prstGeom prst="rect">
            <a:avLst/>
          </a:prstGeom>
          <a:noFill/>
          <a:ln/>
        </p:spPr>
        <p:txBody>
          <a:bodyPr wrap="square" lIns="0" tIns="0" rIns="0" bIns="0" rtlCol="0" anchor="t">
            <a:normAutofit/>
          </a:bodyPr>
          <a:lstStyle/>
          <a:p>
            <a:pPr algn="ctr" indent="0" marL="0">
              <a:buNone/>
            </a:pPr>
            <a:r>
              <a:rPr lang="en-US" sz="1500" dirty="0">
                <a:solidFill>
                  <a:srgbClr val="E8F1F2"/>
                </a:solidFill>
                <a:latin typeface="Calibri" pitchFamily="34" charset="0"/>
                <a:ea typeface="Calibri" pitchFamily="34" charset="-122"/>
                <a:cs typeface="Calibri" pitchFamily="34" charset="-120"/>
              </a:rPr>
              <a:t>hasta que el nuevo líder toma el control</a:t>
            </a:r>
            <a:endParaRPr lang="en-US" sz="1500" dirty="0"/>
          </a:p>
        </p:txBody>
      </p:sp>
      <p:sp>
        <p:nvSpPr>
          <p:cNvPr id="10" name="Shape 8"/>
          <p:cNvSpPr/>
          <p:nvPr/>
        </p:nvSpPr>
        <p:spPr>
          <a:xfrm>
            <a:off x="8119872" y="1143000"/>
            <a:ext cx="3611880" cy="2331720"/>
          </a:xfrm>
          <a:prstGeom prst="roundRect">
            <a:avLst>
              <a:gd name="adj" fmla="val 6275"/>
            </a:avLst>
          </a:prstGeom>
          <a:solidFill>
            <a:srgbClr val="20343F"/>
          </a:solidFill>
          <a:ln w="31750">
            <a:solidFill>
              <a:srgbClr val="8EE6B8"/>
            </a:solidFill>
            <a:prstDash val="solid"/>
          </a:ln>
        </p:spPr>
      </p:sp>
      <p:sp>
        <p:nvSpPr>
          <p:cNvPr id="11" name="Text 9"/>
          <p:cNvSpPr txBox="1"/>
          <p:nvPr/>
        </p:nvSpPr>
        <p:spPr>
          <a:xfrm>
            <a:off x="8119872" y="1280160"/>
            <a:ext cx="3611880" cy="1097280"/>
          </a:xfrm>
          <a:prstGeom prst="rect">
            <a:avLst/>
          </a:prstGeom>
          <a:noFill/>
          <a:ln/>
        </p:spPr>
        <p:txBody>
          <a:bodyPr wrap="square" lIns="0" tIns="0" rIns="0" bIns="0" rtlCol="0" anchor="ctr">
            <a:normAutofit/>
          </a:bodyPr>
          <a:lstStyle/>
          <a:p>
            <a:pPr algn="ctr" indent="0" marL="0">
              <a:buNone/>
            </a:pPr>
            <a:r>
              <a:rPr lang="en-US" sz="4000" b="1" dirty="0">
                <a:solidFill>
                  <a:srgbClr val="8EE6B8"/>
                </a:solidFill>
                <a:latin typeface="Calibri" pitchFamily="34" charset="0"/>
                <a:ea typeface="Calibri" pitchFamily="34" charset="-122"/>
                <a:cs typeface="Calibri" pitchFamily="34" charset="-120"/>
              </a:rPr>
              <a:t>0</a:t>
            </a:r>
            <a:endParaRPr lang="en-US" sz="4000" dirty="0"/>
          </a:p>
        </p:txBody>
      </p:sp>
      <p:sp>
        <p:nvSpPr>
          <p:cNvPr id="12" name="Text 10"/>
          <p:cNvSpPr txBox="1"/>
          <p:nvPr/>
        </p:nvSpPr>
        <p:spPr>
          <a:xfrm>
            <a:off x="8257032" y="2423160"/>
            <a:ext cx="3337560" cy="914400"/>
          </a:xfrm>
          <a:prstGeom prst="rect">
            <a:avLst/>
          </a:prstGeom>
          <a:noFill/>
          <a:ln/>
        </p:spPr>
        <p:txBody>
          <a:bodyPr wrap="square" lIns="0" tIns="0" rIns="0" bIns="0" rtlCol="0" anchor="t">
            <a:normAutofit/>
          </a:bodyPr>
          <a:lstStyle/>
          <a:p>
            <a:pPr algn="ctr" indent="0" marL="0">
              <a:buNone/>
            </a:pPr>
            <a:r>
              <a:rPr lang="en-US" sz="1500" dirty="0">
                <a:solidFill>
                  <a:srgbClr val="E8F1F2"/>
                </a:solidFill>
                <a:latin typeface="Calibri" pitchFamily="34" charset="0"/>
                <a:ea typeface="Calibri" pitchFamily="34" charset="-122"/>
                <a:cs typeface="Calibri" pitchFamily="34" charset="-120"/>
              </a:rPr>
              <a:t>veces que dos nodos aceptaron escrituras a la vez</a:t>
            </a:r>
            <a:endParaRPr lang="en-US" sz="1500" dirty="0"/>
          </a:p>
        </p:txBody>
      </p:sp>
      <p:sp>
        <p:nvSpPr>
          <p:cNvPr id="13" name="Shape 11"/>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14" name="Text 12"/>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En vez de apagar una máquina, se aisló de la red al líder de la base, dejándolo encendido pero incomunicado del resto del clúster. Cada núcleo intentó escribir cada segundo: el nodo aislado dejó de poder escribir casi de inmediato, y el nuevo líder tomó el control 27,6 segundos después. En ningún instante dos nodos aceptaron escrituras a la vez.</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Pruebas de disco: al límite del almacenamiento</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pic>
        <p:nvPicPr>
          <p:cNvPr id="4" name="Image 0" descr="C:\Users\HP\Desktop\crm-empresarial\docs\practica-profesional\presentacion\ppt\img\i36_pruebas_disco.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D2b escaló a un caso real, con solución aplicada de inmediato: el detalle, en la siguiente lámina</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El hallazgo del almacenamiento compartido</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pic>
        <p:nvPicPr>
          <p:cNvPr id="4" name="Image 0" descr="C:\Users\HP\Desktop\crm-empresarial\docs\practica-profesional\presentacion\ppt\img\i34_hallazgo_disco.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Se agotó el espacio de disco compartido del servidor; el sistema protegió los datos y se corrigió sin pérdidas</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El árbitro, puesto a prueba y reforzado</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pic>
        <p:nvPicPr>
          <p:cNvPr id="4" name="Image 0" descr="C:\Users\HP\Desktop\crm-empresarial\docs\practica-profesional\presentacion\ppt\img\i18_quorum.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La misma falla que antes detenía el servicio, hoy el sistema la absorbe sin problema</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P6: doble caída, con el árbitro ya ampliado</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sp>
        <p:nvSpPr>
          <p:cNvPr id="4" name="Shape 2"/>
          <p:cNvSpPr/>
          <p:nvPr/>
        </p:nvSpPr>
        <p:spPr>
          <a:xfrm>
            <a:off x="384048" y="1024128"/>
            <a:ext cx="5598297" cy="2400137"/>
          </a:xfrm>
          <a:prstGeom prst="roundRect">
            <a:avLst>
              <a:gd name="adj" fmla="val 3810"/>
            </a:avLst>
          </a:prstGeom>
          <a:solidFill>
            <a:srgbClr val="20343F"/>
          </a:solidFill>
          <a:ln w="12700">
            <a:solidFill>
              <a:srgbClr val="3D5C69"/>
            </a:solidFill>
            <a:prstDash val="solid"/>
          </a:ln>
        </p:spPr>
      </p:sp>
      <p:pic>
        <p:nvPicPr>
          <p:cNvPr id="5" name="Image 0" descr="C:\Users\HP\Desktop\crm-empresarial\docs\practica-profesional\capturas\p6-proxmox-apagado.png">    </p:cNvPr>
          <p:cNvPicPr>
            <a:picLocks noChangeAspect="1"/>
          </p:cNvPicPr>
          <p:nvPr/>
        </p:nvPicPr>
        <p:blipFill>
          <a:blip r:embed="rId1"/>
          <a:stretch>
            <a:fillRect/>
          </a:stretch>
        </p:blipFill>
        <p:spPr>
          <a:xfrm>
            <a:off x="457200" y="1097280"/>
            <a:ext cx="5451993" cy="2253833"/>
          </a:xfrm>
          <a:prstGeom prst="rect">
            <a:avLst/>
          </a:prstGeom>
        </p:spPr>
      </p:pic>
      <p:sp>
        <p:nvSpPr>
          <p:cNvPr id="6" name="Text 3"/>
          <p:cNvSpPr txBox="1"/>
          <p:nvPr/>
        </p:nvSpPr>
        <p:spPr>
          <a:xfrm>
            <a:off x="365760" y="3488273"/>
            <a:ext cx="5634873"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Dos máquinas apagadas a la vez: un borde y el líder de la base</a:t>
            </a:r>
            <a:endParaRPr lang="en-US" sz="1200" dirty="0"/>
          </a:p>
        </p:txBody>
      </p:sp>
      <p:sp>
        <p:nvSpPr>
          <p:cNvPr id="7" name="Shape 4"/>
          <p:cNvSpPr/>
          <p:nvPr/>
        </p:nvSpPr>
        <p:spPr>
          <a:xfrm>
            <a:off x="6201801" y="1024128"/>
            <a:ext cx="5603103" cy="2400137"/>
          </a:xfrm>
          <a:prstGeom prst="roundRect">
            <a:avLst>
              <a:gd name="adj" fmla="val 3810"/>
            </a:avLst>
          </a:prstGeom>
          <a:solidFill>
            <a:srgbClr val="20343F"/>
          </a:solidFill>
          <a:ln w="12700">
            <a:solidFill>
              <a:srgbClr val="3D5C69"/>
            </a:solidFill>
            <a:prstDash val="solid"/>
          </a:ln>
        </p:spPr>
      </p:sp>
      <p:pic>
        <p:nvPicPr>
          <p:cNvPr id="8" name="Image 1" descr="C:\Users\HP\Desktop\crm-empresarial\docs\practica-profesional\capturas\p6-kuma-detalle-caida.png">    </p:cNvPr>
          <p:cNvPicPr>
            <a:picLocks noChangeAspect="1"/>
          </p:cNvPicPr>
          <p:nvPr/>
        </p:nvPicPr>
        <p:blipFill>
          <a:blip r:embed="rId2"/>
          <a:stretch>
            <a:fillRect/>
          </a:stretch>
        </p:blipFill>
        <p:spPr>
          <a:xfrm>
            <a:off x="6274953" y="1097280"/>
            <a:ext cx="5456799" cy="2253833"/>
          </a:xfrm>
          <a:prstGeom prst="rect">
            <a:avLst/>
          </a:prstGeom>
        </p:spPr>
      </p:pic>
      <p:sp>
        <p:nvSpPr>
          <p:cNvPr id="9" name="Text 5"/>
          <p:cNvSpPr txBox="1"/>
          <p:nvPr/>
        </p:nvSpPr>
        <p:spPr>
          <a:xfrm>
            <a:off x="6183513" y="3488273"/>
            <a:ext cx="5639679"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El monitoreo detecta la caída con evidencia real</a:t>
            </a:r>
            <a:endParaRPr lang="en-US" sz="1200" dirty="0"/>
          </a:p>
        </p:txBody>
      </p:sp>
      <p:sp>
        <p:nvSpPr>
          <p:cNvPr id="10" name="Shape 6"/>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11" name="Text 7"/>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El servicio no se detuvo ni un segundo: nuevo líder en 27,2 s, con cero fallos en 175 verificaciones</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¿Cuánto tardó cada cosa?</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pic>
        <p:nvPicPr>
          <p:cNvPr id="4" name="Image 0" descr="C:\Users\HP\Desktop\crm-empresarial\docs\practica-profesional\presentacion\ppt\img\i26_tiempos.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Diez pruebas, un solo patrón: el sistema espera lo justo para no arriesgar los datos</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Restauración ensayada en tres escenarios</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sp>
        <p:nvSpPr>
          <p:cNvPr id="4" name="Shape 2"/>
          <p:cNvSpPr/>
          <p:nvPr/>
        </p:nvSpPr>
        <p:spPr>
          <a:xfrm>
            <a:off x="384048" y="1024128"/>
            <a:ext cx="2825962" cy="3375292"/>
          </a:xfrm>
          <a:prstGeom prst="roundRect">
            <a:avLst>
              <a:gd name="adj" fmla="val 3236"/>
            </a:avLst>
          </a:prstGeom>
          <a:solidFill>
            <a:srgbClr val="20343F"/>
          </a:solidFill>
          <a:ln w="12700">
            <a:solidFill>
              <a:srgbClr val="3D5C69"/>
            </a:solidFill>
            <a:prstDash val="solid"/>
          </a:ln>
        </p:spPr>
      </p:sp>
      <p:pic>
        <p:nvPicPr>
          <p:cNvPr id="5" name="Image 0" descr="C:\Users\HP\Desktop\crm-empresarial\docs\practica-profesional\capturas\restauracion-01-ensayo-desde-la-nas.png">    </p:cNvPr>
          <p:cNvPicPr>
            <a:picLocks noChangeAspect="1"/>
          </p:cNvPicPr>
          <p:nvPr/>
        </p:nvPicPr>
        <p:blipFill>
          <a:blip r:embed="rId1"/>
          <a:stretch>
            <a:fillRect/>
          </a:stretch>
        </p:blipFill>
        <p:spPr>
          <a:xfrm>
            <a:off x="457200" y="1097280"/>
            <a:ext cx="2679658" cy="3228988"/>
          </a:xfrm>
          <a:prstGeom prst="rect">
            <a:avLst/>
          </a:prstGeom>
        </p:spPr>
      </p:pic>
      <p:sp>
        <p:nvSpPr>
          <p:cNvPr id="6" name="Text 3"/>
          <p:cNvSpPr txBox="1"/>
          <p:nvPr/>
        </p:nvSpPr>
        <p:spPr>
          <a:xfrm>
            <a:off x="365760" y="4463428"/>
            <a:ext cx="2862538"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Restauración desde el respaldo local: coincide exactamente con los datos reales</a:t>
            </a:r>
            <a:endParaRPr lang="en-US" sz="1200" dirty="0"/>
          </a:p>
        </p:txBody>
      </p:sp>
      <p:sp>
        <p:nvSpPr>
          <p:cNvPr id="7" name="Shape 4"/>
          <p:cNvSpPr/>
          <p:nvPr/>
        </p:nvSpPr>
        <p:spPr>
          <a:xfrm>
            <a:off x="3429466" y="1024128"/>
            <a:ext cx="8375438" cy="3375292"/>
          </a:xfrm>
          <a:prstGeom prst="roundRect">
            <a:avLst>
              <a:gd name="adj" fmla="val 2709"/>
            </a:avLst>
          </a:prstGeom>
          <a:solidFill>
            <a:srgbClr val="20343F"/>
          </a:solidFill>
          <a:ln w="12700">
            <a:solidFill>
              <a:srgbClr val="3D5C69"/>
            </a:solidFill>
            <a:prstDash val="solid"/>
          </a:ln>
        </p:spPr>
      </p:sp>
      <p:pic>
        <p:nvPicPr>
          <p:cNvPr id="8" name="Image 1" descr="C:\Users\HP\Desktop\crm-empresarial\docs\practica-profesional\capturas\restauracion-04-vm-restaurada-arrancada.png">    </p:cNvPr>
          <p:cNvPicPr>
            <a:picLocks noChangeAspect="1"/>
          </p:cNvPicPr>
          <p:nvPr/>
        </p:nvPicPr>
        <p:blipFill>
          <a:blip r:embed="rId2"/>
          <a:stretch>
            <a:fillRect/>
          </a:stretch>
        </p:blipFill>
        <p:spPr>
          <a:xfrm>
            <a:off x="3502618" y="1097280"/>
            <a:ext cx="8229134" cy="3228988"/>
          </a:xfrm>
          <a:prstGeom prst="rect">
            <a:avLst/>
          </a:prstGeom>
        </p:spPr>
      </p:pic>
      <p:sp>
        <p:nvSpPr>
          <p:cNvPr id="9" name="Text 5"/>
          <p:cNvSpPr txBox="1"/>
          <p:nvPr/>
        </p:nvSpPr>
        <p:spPr>
          <a:xfrm>
            <a:off x="3411178" y="4463428"/>
            <a:ext cx="8412014"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Una máquina completa, restaurada y arrancada con éxito</a:t>
            </a:r>
            <a:endParaRPr lang="en-US" sz="1200" dirty="0"/>
          </a:p>
        </p:txBody>
      </p:sp>
      <p:sp>
        <p:nvSpPr>
          <p:cNvPr id="10" name="Shape 6"/>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11" name="Text 7"/>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NAS, nube y una máquina virtual completa: las tres rutas de recuperación, ya probadas</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Recuperación y evolución del diseño</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ETAPA 5 · PRUEBAS</a:t>
            </a:r>
            <a:endParaRPr lang="en-US" sz="1100" dirty="0"/>
          </a:p>
        </p:txBody>
      </p:sp>
      <p:pic>
        <p:nvPicPr>
          <p:cNvPr id="4" name="Image 0" descr="C:\Users\HP\Desktop\crm-empresarial\docs\practica-profesional\presentacion\ppt\img\i29_recuperacion_limites.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Cada ajuste, encontrado en una prueba y corregido antes de producción</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33 incidentes reales: el aprendizaje del proyecto</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CIERRE</a:t>
            </a:r>
            <a:endParaRPr lang="en-US" sz="1100" dirty="0"/>
          </a:p>
        </p:txBody>
      </p:sp>
      <p:graphicFrame>
        <p:nvGraphicFramePr>
          <p:cNvPr id="4" name="Chart 0" descr=""/>
          <p:cNvGraphicFramePr/>
          <p:nvPr/>
        </p:nvGraphicFramePr>
        <p:xfrm>
          <a:off x="457200" y="1097280"/>
          <a:ext cx="6949440" cy="4800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143000"/>
            <a:ext cx="4050792" cy="1463040"/>
          </a:xfrm>
          <a:prstGeom prst="roundRect">
            <a:avLst>
              <a:gd name="adj" fmla="val 8750"/>
            </a:avLst>
          </a:prstGeom>
          <a:solidFill>
            <a:srgbClr val="20343F"/>
          </a:solidFill>
          <a:ln w="25400">
            <a:solidFill>
              <a:srgbClr val="F2B35A"/>
            </a:solidFill>
            <a:prstDash val="solid"/>
          </a:ln>
        </p:spPr>
      </p:sp>
      <p:sp>
        <p:nvSpPr>
          <p:cNvPr id="6" name="Text 3"/>
          <p:cNvSpPr txBox="1"/>
          <p:nvPr/>
        </p:nvSpPr>
        <p:spPr>
          <a:xfrm>
            <a:off x="7863840" y="1234440"/>
            <a:ext cx="3657600" cy="365760"/>
          </a:xfrm>
          <a:prstGeom prst="rect">
            <a:avLst/>
          </a:prstGeom>
          <a:noFill/>
          <a:ln/>
        </p:spPr>
        <p:txBody>
          <a:bodyPr wrap="square" lIns="0" tIns="0" rIns="0" bIns="0" rtlCol="0" anchor="ctr"/>
          <a:lstStyle/>
          <a:p>
            <a:pPr indent="0" marL="0">
              <a:buNone/>
            </a:pPr>
            <a:r>
              <a:rPr lang="en-US" sz="1600" b="1" dirty="0">
                <a:solidFill>
                  <a:srgbClr val="F2B35A"/>
                </a:solidFill>
                <a:latin typeface="Calibri" pitchFamily="34" charset="0"/>
                <a:ea typeface="Calibri" pitchFamily="34" charset="-122"/>
                <a:cs typeface="Calibri" pitchFamily="34" charset="-120"/>
              </a:rPr>
              <a:t>Nube</a:t>
            </a:r>
            <a:endParaRPr lang="en-US" sz="1600" dirty="0"/>
          </a:p>
        </p:txBody>
      </p:sp>
      <p:sp>
        <p:nvSpPr>
          <p:cNvPr id="7" name="Text 4"/>
          <p:cNvSpPr txBox="1"/>
          <p:nvPr/>
        </p:nvSpPr>
        <p:spPr>
          <a:xfrm>
            <a:off x="7863840" y="1600200"/>
            <a:ext cx="3703320" cy="914400"/>
          </a:xfrm>
          <a:prstGeom prst="rect">
            <a:avLst/>
          </a:prstGeom>
          <a:noFill/>
          <a:ln/>
        </p:spPr>
        <p:txBody>
          <a:bodyPr wrap="square" lIns="0" tIns="0" rIns="0" bIns="0" rtlCol="0" anchor="t">
            <a:normAutofit/>
          </a:bodyPr>
          <a:lstStyle/>
          <a:p>
            <a:pPr indent="0" marL="0">
              <a:buNone/>
            </a:pPr>
            <a:r>
              <a:rPr lang="en-US" sz="1400" dirty="0">
                <a:solidFill>
                  <a:srgbClr val="E8F1F2"/>
                </a:solidFill>
                <a:latin typeface="Calibri" pitchFamily="34" charset="0"/>
                <a:ea typeface="Calibri" pitchFamily="34" charset="-122"/>
                <a:cs typeface="Calibri" pitchFamily="34" charset="-120"/>
              </a:rPr>
              <a:t>Permisos y credenciales de la copia fuera del PC, resueltos con mínimo privilegio real.</a:t>
            </a:r>
            <a:endParaRPr lang="en-US" sz="1400" dirty="0"/>
          </a:p>
        </p:txBody>
      </p:sp>
      <p:sp>
        <p:nvSpPr>
          <p:cNvPr id="8" name="Shape 5"/>
          <p:cNvSpPr/>
          <p:nvPr/>
        </p:nvSpPr>
        <p:spPr>
          <a:xfrm>
            <a:off x="7680960" y="2743200"/>
            <a:ext cx="4050792" cy="1463040"/>
          </a:xfrm>
          <a:prstGeom prst="roundRect">
            <a:avLst>
              <a:gd name="adj" fmla="val 8750"/>
            </a:avLst>
          </a:prstGeom>
          <a:solidFill>
            <a:srgbClr val="20343F"/>
          </a:solidFill>
          <a:ln w="25400">
            <a:solidFill>
              <a:srgbClr val="8EE6B8"/>
            </a:solidFill>
            <a:prstDash val="solid"/>
          </a:ln>
        </p:spPr>
      </p:sp>
      <p:sp>
        <p:nvSpPr>
          <p:cNvPr id="9" name="Text 6"/>
          <p:cNvSpPr txBox="1"/>
          <p:nvPr/>
        </p:nvSpPr>
        <p:spPr>
          <a:xfrm>
            <a:off x="7863840" y="2834640"/>
            <a:ext cx="3657600" cy="365760"/>
          </a:xfrm>
          <a:prstGeom prst="rect">
            <a:avLst/>
          </a:prstGeom>
          <a:noFill/>
          <a:ln/>
        </p:spPr>
        <p:txBody>
          <a:bodyPr wrap="square" lIns="0" tIns="0" rIns="0" bIns="0" rtlCol="0" anchor="ctr"/>
          <a:lstStyle/>
          <a:p>
            <a:pPr indent="0" marL="0">
              <a:buNone/>
            </a:pPr>
            <a:r>
              <a:rPr lang="en-US" sz="1600" b="1" dirty="0">
                <a:solidFill>
                  <a:srgbClr val="8EE6B8"/>
                </a:solidFill>
                <a:latin typeface="Calibri" pitchFamily="34" charset="0"/>
                <a:ea typeface="Calibri" pitchFamily="34" charset="-122"/>
                <a:cs typeface="Calibri" pitchFamily="34" charset="-120"/>
              </a:rPr>
              <a:t>Alta disponibilidad</a:t>
            </a:r>
            <a:endParaRPr lang="en-US" sz="1600" dirty="0"/>
          </a:p>
        </p:txBody>
      </p:sp>
      <p:sp>
        <p:nvSpPr>
          <p:cNvPr id="10" name="Text 7"/>
          <p:cNvSpPr txBox="1"/>
          <p:nvPr/>
        </p:nvSpPr>
        <p:spPr>
          <a:xfrm>
            <a:off x="7863840" y="3200400"/>
            <a:ext cx="3703320" cy="914400"/>
          </a:xfrm>
          <a:prstGeom prst="rect">
            <a:avLst/>
          </a:prstGeom>
          <a:noFill/>
          <a:ln/>
        </p:spPr>
        <p:txBody>
          <a:bodyPr wrap="square" lIns="0" tIns="0" rIns="0" bIns="0" rtlCol="0" anchor="t">
            <a:normAutofit/>
          </a:bodyPr>
          <a:lstStyle/>
          <a:p>
            <a:pPr indent="0" marL="0">
              <a:buNone/>
            </a:pPr>
            <a:r>
              <a:rPr lang="en-US" sz="1400" dirty="0">
                <a:solidFill>
                  <a:srgbClr val="E8F1F2"/>
                </a:solidFill>
                <a:latin typeface="Calibri" pitchFamily="34" charset="0"/>
                <a:ea typeface="Calibri" pitchFamily="34" charset="-122"/>
                <a:cs typeface="Calibri" pitchFamily="34" charset="-120"/>
              </a:rPr>
              <a:t>El almacenamiento compartido del servidor, con más margen y mejor protección para los datos.</a:t>
            </a:r>
            <a:endParaRPr lang="en-US" sz="1400" dirty="0"/>
          </a:p>
        </p:txBody>
      </p:sp>
      <p:sp>
        <p:nvSpPr>
          <p:cNvPr id="11" name="Shape 8"/>
          <p:cNvSpPr/>
          <p:nvPr/>
        </p:nvSpPr>
        <p:spPr>
          <a:xfrm>
            <a:off x="7680960" y="4343400"/>
            <a:ext cx="4050792" cy="1463040"/>
          </a:xfrm>
          <a:prstGeom prst="roundRect">
            <a:avLst>
              <a:gd name="adj" fmla="val 8750"/>
            </a:avLst>
          </a:prstGeom>
          <a:solidFill>
            <a:srgbClr val="20343F"/>
          </a:solidFill>
          <a:ln w="25400">
            <a:solidFill>
              <a:srgbClr val="5FD3C8"/>
            </a:solidFill>
            <a:prstDash val="solid"/>
          </a:ln>
        </p:spPr>
      </p:sp>
      <p:sp>
        <p:nvSpPr>
          <p:cNvPr id="12" name="Text 9"/>
          <p:cNvSpPr txBox="1"/>
          <p:nvPr/>
        </p:nvSpPr>
        <p:spPr>
          <a:xfrm>
            <a:off x="7863840" y="4434840"/>
            <a:ext cx="3657600" cy="365760"/>
          </a:xfrm>
          <a:prstGeom prst="rect">
            <a:avLst/>
          </a:prstGeom>
          <a:noFill/>
          <a:ln/>
        </p:spPr>
        <p:txBody>
          <a:bodyPr wrap="square" lIns="0" tIns="0" rIns="0" bIns="0" rtlCol="0" anchor="ctr"/>
          <a:lstStyle/>
          <a:p>
            <a:pPr indent="0" marL="0">
              <a:buNone/>
            </a:pPr>
            <a:r>
              <a:rPr lang="en-US" sz="1600" b="1" dirty="0">
                <a:solidFill>
                  <a:srgbClr val="5FD3C8"/>
                </a:solidFill>
                <a:latin typeface="Calibri" pitchFamily="34" charset="0"/>
                <a:ea typeface="Calibri" pitchFamily="34" charset="-122"/>
                <a:cs typeface="Calibri" pitchFamily="34" charset="-120"/>
              </a:rPr>
              <a:t>Red</a:t>
            </a:r>
            <a:endParaRPr lang="en-US" sz="1600" dirty="0"/>
          </a:p>
        </p:txBody>
      </p:sp>
      <p:sp>
        <p:nvSpPr>
          <p:cNvPr id="13" name="Text 10"/>
          <p:cNvSpPr txBox="1"/>
          <p:nvPr/>
        </p:nvSpPr>
        <p:spPr>
          <a:xfrm>
            <a:off x="7863840" y="4800600"/>
            <a:ext cx="3703320" cy="914400"/>
          </a:xfrm>
          <a:prstGeom prst="rect">
            <a:avLst/>
          </a:prstGeom>
          <a:noFill/>
          <a:ln/>
        </p:spPr>
        <p:txBody>
          <a:bodyPr wrap="square" lIns="0" tIns="0" rIns="0" bIns="0" rtlCol="0" anchor="t">
            <a:normAutofit/>
          </a:bodyPr>
          <a:lstStyle/>
          <a:p>
            <a:pPr indent="0" marL="0">
              <a:buNone/>
            </a:pPr>
            <a:r>
              <a:rPr lang="en-US" sz="1400" dirty="0">
                <a:solidFill>
                  <a:srgbClr val="E8F1F2"/>
                </a:solidFill>
                <a:latin typeface="Calibri" pitchFamily="34" charset="0"/>
                <a:ea typeface="Calibri" pitchFamily="34" charset="-122"/>
                <a:cs typeface="Calibri" pitchFamily="34" charset="-120"/>
              </a:rPr>
              <a:t>Una red propia, independiente de cualquier conexión externa, con aislamiento verificado.</a:t>
            </a:r>
            <a:endParaRPr lang="en-US" sz="1400" dirty="0"/>
          </a:p>
        </p:txBody>
      </p:sp>
      <p:sp>
        <p:nvSpPr>
          <p:cNvPr id="14" name="Shape 11"/>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15" name="Text 12"/>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Cada incidente tiene causa raíz y resolución: es evidencia de gestión de servicios TI madura, no de improvisación</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El proyecto en cifras</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CIERRE</a:t>
            </a:r>
            <a:endParaRPr lang="en-US" sz="1100" dirty="0"/>
          </a:p>
        </p:txBody>
      </p:sp>
      <p:sp>
        <p:nvSpPr>
          <p:cNvPr id="4" name="Shape 2"/>
          <p:cNvSpPr/>
          <p:nvPr/>
        </p:nvSpPr>
        <p:spPr>
          <a:xfrm>
            <a:off x="457200" y="1143000"/>
            <a:ext cx="2654046" cy="2331720"/>
          </a:xfrm>
          <a:prstGeom prst="roundRect">
            <a:avLst>
              <a:gd name="adj" fmla="val 6275"/>
            </a:avLst>
          </a:prstGeom>
          <a:solidFill>
            <a:srgbClr val="20343F"/>
          </a:solidFill>
          <a:ln w="31750">
            <a:solidFill>
              <a:srgbClr val="5FD3C8"/>
            </a:solidFill>
            <a:prstDash val="solid"/>
          </a:ln>
        </p:spPr>
      </p:sp>
      <p:sp>
        <p:nvSpPr>
          <p:cNvPr id="5" name="Text 3"/>
          <p:cNvSpPr txBox="1"/>
          <p:nvPr/>
        </p:nvSpPr>
        <p:spPr>
          <a:xfrm>
            <a:off x="457200" y="1280160"/>
            <a:ext cx="2654046" cy="1097280"/>
          </a:xfrm>
          <a:prstGeom prst="rect">
            <a:avLst/>
          </a:prstGeom>
          <a:noFill/>
          <a:ln/>
        </p:spPr>
        <p:txBody>
          <a:bodyPr wrap="square" lIns="0" tIns="0" rIns="0" bIns="0" rtlCol="0" anchor="ctr">
            <a:normAutofit/>
          </a:bodyPr>
          <a:lstStyle/>
          <a:p>
            <a:pPr algn="ctr" indent="0" marL="0">
              <a:buNone/>
            </a:pPr>
            <a:r>
              <a:rPr lang="en-US" sz="4000" b="1" dirty="0">
                <a:solidFill>
                  <a:srgbClr val="5FD3C8"/>
                </a:solidFill>
                <a:latin typeface="Calibri" pitchFamily="34" charset="0"/>
                <a:ea typeface="Calibri" pitchFamily="34" charset="-122"/>
                <a:cs typeface="Calibri" pitchFamily="34" charset="-120"/>
              </a:rPr>
              <a:t>6</a:t>
            </a:r>
            <a:endParaRPr lang="en-US" sz="4000" dirty="0"/>
          </a:p>
        </p:txBody>
      </p:sp>
      <p:sp>
        <p:nvSpPr>
          <p:cNvPr id="6" name="Text 4"/>
          <p:cNvSpPr txBox="1"/>
          <p:nvPr/>
        </p:nvSpPr>
        <p:spPr>
          <a:xfrm>
            <a:off x="594360" y="2423160"/>
            <a:ext cx="2379726" cy="914400"/>
          </a:xfrm>
          <a:prstGeom prst="rect">
            <a:avLst/>
          </a:prstGeom>
          <a:noFill/>
          <a:ln/>
        </p:spPr>
        <p:txBody>
          <a:bodyPr wrap="square" lIns="0" tIns="0" rIns="0" bIns="0" rtlCol="0" anchor="t">
            <a:normAutofit/>
          </a:bodyPr>
          <a:lstStyle/>
          <a:p>
            <a:pPr algn="ctr" indent="0" marL="0">
              <a:buNone/>
            </a:pPr>
            <a:r>
              <a:rPr lang="en-US" sz="1500" dirty="0">
                <a:solidFill>
                  <a:srgbClr val="E8F1F2"/>
                </a:solidFill>
                <a:latin typeface="Calibri" pitchFamily="34" charset="0"/>
                <a:ea typeface="Calibri" pitchFamily="34" charset="-122"/>
                <a:cs typeface="Calibri" pitchFamily="34" charset="-120"/>
              </a:rPr>
              <a:t>unidades de cómputo, 5 votando en el árbitro</a:t>
            </a:r>
            <a:endParaRPr lang="en-US" sz="1500" dirty="0"/>
          </a:p>
        </p:txBody>
      </p:sp>
      <p:sp>
        <p:nvSpPr>
          <p:cNvPr id="7" name="Shape 5"/>
          <p:cNvSpPr/>
          <p:nvPr/>
        </p:nvSpPr>
        <p:spPr>
          <a:xfrm>
            <a:off x="3330702" y="1143000"/>
            <a:ext cx="2654046" cy="2331720"/>
          </a:xfrm>
          <a:prstGeom prst="roundRect">
            <a:avLst>
              <a:gd name="adj" fmla="val 6275"/>
            </a:avLst>
          </a:prstGeom>
          <a:solidFill>
            <a:srgbClr val="20343F"/>
          </a:solidFill>
          <a:ln w="31750">
            <a:solidFill>
              <a:srgbClr val="8EE6B8"/>
            </a:solidFill>
            <a:prstDash val="solid"/>
          </a:ln>
        </p:spPr>
      </p:sp>
      <p:sp>
        <p:nvSpPr>
          <p:cNvPr id="8" name="Text 6"/>
          <p:cNvSpPr txBox="1"/>
          <p:nvPr/>
        </p:nvSpPr>
        <p:spPr>
          <a:xfrm>
            <a:off x="3330702" y="1280160"/>
            <a:ext cx="2654046" cy="1097280"/>
          </a:xfrm>
          <a:prstGeom prst="rect">
            <a:avLst/>
          </a:prstGeom>
          <a:noFill/>
          <a:ln/>
        </p:spPr>
        <p:txBody>
          <a:bodyPr wrap="square" lIns="0" tIns="0" rIns="0" bIns="0" rtlCol="0" anchor="ctr">
            <a:normAutofit/>
          </a:bodyPr>
          <a:lstStyle/>
          <a:p>
            <a:pPr algn="ctr" indent="0" marL="0">
              <a:buNone/>
            </a:pPr>
            <a:r>
              <a:rPr lang="en-US" sz="4000" b="1" dirty="0">
                <a:solidFill>
                  <a:srgbClr val="8EE6B8"/>
                </a:solidFill>
                <a:latin typeface="Calibri" pitchFamily="34" charset="0"/>
                <a:ea typeface="Calibri" pitchFamily="34" charset="-122"/>
                <a:cs typeface="Calibri" pitchFamily="34" charset="-120"/>
              </a:rPr>
              <a:t>13</a:t>
            </a:r>
            <a:endParaRPr lang="en-US" sz="4000" dirty="0"/>
          </a:p>
        </p:txBody>
      </p:sp>
      <p:sp>
        <p:nvSpPr>
          <p:cNvPr id="9" name="Text 7"/>
          <p:cNvSpPr txBox="1"/>
          <p:nvPr/>
        </p:nvSpPr>
        <p:spPr>
          <a:xfrm>
            <a:off x="3467862" y="2423160"/>
            <a:ext cx="2379726" cy="914400"/>
          </a:xfrm>
          <a:prstGeom prst="rect">
            <a:avLst/>
          </a:prstGeom>
          <a:noFill/>
          <a:ln/>
        </p:spPr>
        <p:txBody>
          <a:bodyPr wrap="square" lIns="0" tIns="0" rIns="0" bIns="0" rtlCol="0" anchor="t">
            <a:normAutofit/>
          </a:bodyPr>
          <a:lstStyle/>
          <a:p>
            <a:pPr algn="ctr" indent="0" marL="0">
              <a:buNone/>
            </a:pPr>
            <a:r>
              <a:rPr lang="en-US" sz="1500" dirty="0">
                <a:solidFill>
                  <a:srgbClr val="E8F1F2"/>
                </a:solidFill>
                <a:latin typeface="Calibri" pitchFamily="34" charset="0"/>
                <a:ea typeface="Calibri" pitchFamily="34" charset="-122"/>
                <a:cs typeface="Calibri" pitchFamily="34" charset="-120"/>
              </a:rPr>
              <a:t>monitores en el centro de operaciones</a:t>
            </a:r>
            <a:endParaRPr lang="en-US" sz="1500" dirty="0"/>
          </a:p>
        </p:txBody>
      </p:sp>
      <p:sp>
        <p:nvSpPr>
          <p:cNvPr id="10" name="Shape 8"/>
          <p:cNvSpPr/>
          <p:nvPr/>
        </p:nvSpPr>
        <p:spPr>
          <a:xfrm>
            <a:off x="6204204" y="1143000"/>
            <a:ext cx="2654046" cy="2331720"/>
          </a:xfrm>
          <a:prstGeom prst="roundRect">
            <a:avLst>
              <a:gd name="adj" fmla="val 6275"/>
            </a:avLst>
          </a:prstGeom>
          <a:solidFill>
            <a:srgbClr val="20343F"/>
          </a:solidFill>
          <a:ln w="31750">
            <a:solidFill>
              <a:srgbClr val="8EE6B8"/>
            </a:solidFill>
            <a:prstDash val="solid"/>
          </a:ln>
        </p:spPr>
      </p:sp>
      <p:sp>
        <p:nvSpPr>
          <p:cNvPr id="11" name="Text 9"/>
          <p:cNvSpPr txBox="1"/>
          <p:nvPr/>
        </p:nvSpPr>
        <p:spPr>
          <a:xfrm>
            <a:off x="6204204" y="1280160"/>
            <a:ext cx="2654046" cy="1097280"/>
          </a:xfrm>
          <a:prstGeom prst="rect">
            <a:avLst/>
          </a:prstGeom>
          <a:noFill/>
          <a:ln/>
        </p:spPr>
        <p:txBody>
          <a:bodyPr wrap="square" lIns="0" tIns="0" rIns="0" bIns="0" rtlCol="0" anchor="ctr">
            <a:normAutofit/>
          </a:bodyPr>
          <a:lstStyle/>
          <a:p>
            <a:pPr algn="ctr" indent="0" marL="0">
              <a:buNone/>
            </a:pPr>
            <a:r>
              <a:rPr lang="en-US" sz="4000" b="1" dirty="0">
                <a:solidFill>
                  <a:srgbClr val="8EE6B8"/>
                </a:solidFill>
                <a:latin typeface="Calibri" pitchFamily="34" charset="0"/>
                <a:ea typeface="Calibri" pitchFamily="34" charset="-122"/>
                <a:cs typeface="Calibri" pitchFamily="34" charset="-120"/>
              </a:rPr>
              <a:t>0</a:t>
            </a:r>
            <a:endParaRPr lang="en-US" sz="4000" dirty="0"/>
          </a:p>
        </p:txBody>
      </p:sp>
      <p:sp>
        <p:nvSpPr>
          <p:cNvPr id="12" name="Text 10"/>
          <p:cNvSpPr txBox="1"/>
          <p:nvPr/>
        </p:nvSpPr>
        <p:spPr>
          <a:xfrm>
            <a:off x="6341364" y="2423160"/>
            <a:ext cx="2379726" cy="914400"/>
          </a:xfrm>
          <a:prstGeom prst="rect">
            <a:avLst/>
          </a:prstGeom>
          <a:noFill/>
          <a:ln/>
        </p:spPr>
        <p:txBody>
          <a:bodyPr wrap="square" lIns="0" tIns="0" rIns="0" bIns="0" rtlCol="0" anchor="t">
            <a:normAutofit/>
          </a:bodyPr>
          <a:lstStyle/>
          <a:p>
            <a:pPr algn="ctr" indent="0" marL="0">
              <a:buNone/>
            </a:pPr>
            <a:r>
              <a:rPr lang="en-US" sz="1500" dirty="0">
                <a:solidFill>
                  <a:srgbClr val="E8F1F2"/>
                </a:solidFill>
                <a:latin typeface="Calibri" pitchFamily="34" charset="0"/>
                <a:ea typeface="Calibri" pitchFamily="34" charset="-122"/>
                <a:cs typeface="Calibri" pitchFamily="34" charset="-120"/>
              </a:rPr>
              <a:t>transacciones confirmadas perdidas, en 10 pruebas</a:t>
            </a:r>
            <a:endParaRPr lang="en-US" sz="1500" dirty="0"/>
          </a:p>
        </p:txBody>
      </p:sp>
      <p:sp>
        <p:nvSpPr>
          <p:cNvPr id="13" name="Shape 11"/>
          <p:cNvSpPr/>
          <p:nvPr/>
        </p:nvSpPr>
        <p:spPr>
          <a:xfrm>
            <a:off x="9077706" y="1143000"/>
            <a:ext cx="2654046" cy="2331720"/>
          </a:xfrm>
          <a:prstGeom prst="roundRect">
            <a:avLst>
              <a:gd name="adj" fmla="val 6275"/>
            </a:avLst>
          </a:prstGeom>
          <a:solidFill>
            <a:srgbClr val="20343F"/>
          </a:solidFill>
          <a:ln w="31750">
            <a:solidFill>
              <a:srgbClr val="A99CF0"/>
            </a:solidFill>
            <a:prstDash val="solid"/>
          </a:ln>
        </p:spPr>
      </p:sp>
      <p:sp>
        <p:nvSpPr>
          <p:cNvPr id="14" name="Text 12"/>
          <p:cNvSpPr txBox="1"/>
          <p:nvPr/>
        </p:nvSpPr>
        <p:spPr>
          <a:xfrm>
            <a:off x="9077706" y="1280160"/>
            <a:ext cx="2654046" cy="1097280"/>
          </a:xfrm>
          <a:prstGeom prst="rect">
            <a:avLst/>
          </a:prstGeom>
          <a:noFill/>
          <a:ln/>
        </p:spPr>
        <p:txBody>
          <a:bodyPr wrap="square" lIns="0" tIns="0" rIns="0" bIns="0" rtlCol="0" anchor="ctr">
            <a:normAutofit/>
          </a:bodyPr>
          <a:lstStyle/>
          <a:p>
            <a:pPr algn="ctr" indent="0" marL="0">
              <a:buNone/>
            </a:pPr>
            <a:r>
              <a:rPr lang="en-US" sz="4000" b="1" dirty="0">
                <a:solidFill>
                  <a:srgbClr val="A99CF0"/>
                </a:solidFill>
                <a:latin typeface="Calibri" pitchFamily="34" charset="0"/>
                <a:ea typeface="Calibri" pitchFamily="34" charset="-122"/>
                <a:cs typeface="Calibri" pitchFamily="34" charset="-120"/>
              </a:rPr>
              <a:t>33</a:t>
            </a:r>
            <a:endParaRPr lang="en-US" sz="4000" dirty="0"/>
          </a:p>
        </p:txBody>
      </p:sp>
      <p:sp>
        <p:nvSpPr>
          <p:cNvPr id="15" name="Text 13"/>
          <p:cNvSpPr txBox="1"/>
          <p:nvPr/>
        </p:nvSpPr>
        <p:spPr>
          <a:xfrm>
            <a:off x="9214866" y="2423160"/>
            <a:ext cx="2379726" cy="914400"/>
          </a:xfrm>
          <a:prstGeom prst="rect">
            <a:avLst/>
          </a:prstGeom>
          <a:noFill/>
          <a:ln/>
        </p:spPr>
        <p:txBody>
          <a:bodyPr wrap="square" lIns="0" tIns="0" rIns="0" bIns="0" rtlCol="0" anchor="t">
            <a:normAutofit/>
          </a:bodyPr>
          <a:lstStyle/>
          <a:p>
            <a:pPr algn="ctr" indent="0" marL="0">
              <a:buNone/>
            </a:pPr>
            <a:r>
              <a:rPr lang="en-US" sz="1500" dirty="0">
                <a:solidFill>
                  <a:srgbClr val="E8F1F2"/>
                </a:solidFill>
                <a:latin typeface="Calibri" pitchFamily="34" charset="0"/>
                <a:ea typeface="Calibri" pitchFamily="34" charset="-122"/>
                <a:cs typeface="Calibri" pitchFamily="34" charset="-120"/>
              </a:rPr>
              <a:t>incidentes resueltos con causa raíz</a:t>
            </a:r>
            <a:endParaRPr lang="en-US" sz="1500" dirty="0"/>
          </a:p>
        </p:txBody>
      </p:sp>
      <p:sp>
        <p:nvSpPr>
          <p:cNvPr id="16" name="Shape 14"/>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17" name="Text 15"/>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Seis unidades de cómputo, de las cuales cinco votan en el árbitro de continuidad; trece monitores; cero transacciones confirmadas perdidas; treinta y tres incidentes resueltos.</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El proyecto en cifras (continuación)</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CIERRE</a:t>
            </a:r>
            <a:endParaRPr lang="en-US" sz="1100" dirty="0"/>
          </a:p>
        </p:txBody>
      </p:sp>
      <p:sp>
        <p:nvSpPr>
          <p:cNvPr id="4" name="Shape 2"/>
          <p:cNvSpPr/>
          <p:nvPr/>
        </p:nvSpPr>
        <p:spPr>
          <a:xfrm>
            <a:off x="457200" y="1143000"/>
            <a:ext cx="2654046" cy="2331720"/>
          </a:xfrm>
          <a:prstGeom prst="roundRect">
            <a:avLst>
              <a:gd name="adj" fmla="val 6275"/>
            </a:avLst>
          </a:prstGeom>
          <a:solidFill>
            <a:srgbClr val="20343F"/>
          </a:solidFill>
          <a:ln w="31750">
            <a:solidFill>
              <a:srgbClr val="5FD3C8"/>
            </a:solidFill>
            <a:prstDash val="solid"/>
          </a:ln>
        </p:spPr>
      </p:sp>
      <p:sp>
        <p:nvSpPr>
          <p:cNvPr id="5" name="Text 3"/>
          <p:cNvSpPr txBox="1"/>
          <p:nvPr/>
        </p:nvSpPr>
        <p:spPr>
          <a:xfrm>
            <a:off x="457200" y="1280160"/>
            <a:ext cx="2654046" cy="1097280"/>
          </a:xfrm>
          <a:prstGeom prst="rect">
            <a:avLst/>
          </a:prstGeom>
          <a:noFill/>
          <a:ln/>
        </p:spPr>
        <p:txBody>
          <a:bodyPr wrap="square" lIns="0" tIns="0" rIns="0" bIns="0" rtlCol="0" anchor="ctr">
            <a:normAutofit/>
          </a:bodyPr>
          <a:lstStyle/>
          <a:p>
            <a:pPr algn="ctr" indent="0" marL="0">
              <a:buNone/>
            </a:pPr>
            <a:r>
              <a:rPr lang="en-US" sz="4000" b="1" dirty="0">
                <a:solidFill>
                  <a:srgbClr val="5FD3C8"/>
                </a:solidFill>
                <a:latin typeface="Calibri" pitchFamily="34" charset="0"/>
                <a:ea typeface="Calibri" pitchFamily="34" charset="-122"/>
                <a:cs typeface="Calibri" pitchFamily="34" charset="-120"/>
              </a:rPr>
              <a:t>9</a:t>
            </a:r>
            <a:endParaRPr lang="en-US" sz="4000" dirty="0"/>
          </a:p>
        </p:txBody>
      </p:sp>
      <p:sp>
        <p:nvSpPr>
          <p:cNvPr id="6" name="Text 4"/>
          <p:cNvSpPr txBox="1"/>
          <p:nvPr/>
        </p:nvSpPr>
        <p:spPr>
          <a:xfrm>
            <a:off x="594360" y="2423160"/>
            <a:ext cx="2379726" cy="914400"/>
          </a:xfrm>
          <a:prstGeom prst="rect">
            <a:avLst/>
          </a:prstGeom>
          <a:noFill/>
          <a:ln/>
        </p:spPr>
        <p:txBody>
          <a:bodyPr wrap="square" lIns="0" tIns="0" rIns="0" bIns="0" rtlCol="0" anchor="t">
            <a:normAutofit/>
          </a:bodyPr>
          <a:lstStyle/>
          <a:p>
            <a:pPr algn="ctr" indent="0" marL="0">
              <a:buNone/>
            </a:pPr>
            <a:r>
              <a:rPr lang="en-US" sz="1500" dirty="0">
                <a:solidFill>
                  <a:srgbClr val="E8F1F2"/>
                </a:solidFill>
                <a:latin typeface="Calibri" pitchFamily="34" charset="0"/>
                <a:ea typeface="Calibri" pitchFamily="34" charset="-122"/>
                <a:cs typeface="Calibri" pitchFamily="34" charset="-120"/>
              </a:rPr>
              <a:t>pruebas de estrés con tiempos medidos</a:t>
            </a:r>
            <a:endParaRPr lang="en-US" sz="1500" dirty="0"/>
          </a:p>
        </p:txBody>
      </p:sp>
      <p:sp>
        <p:nvSpPr>
          <p:cNvPr id="7" name="Shape 5"/>
          <p:cNvSpPr/>
          <p:nvPr/>
        </p:nvSpPr>
        <p:spPr>
          <a:xfrm>
            <a:off x="3330702" y="1143000"/>
            <a:ext cx="2654046" cy="2331720"/>
          </a:xfrm>
          <a:prstGeom prst="roundRect">
            <a:avLst>
              <a:gd name="adj" fmla="val 6275"/>
            </a:avLst>
          </a:prstGeom>
          <a:solidFill>
            <a:srgbClr val="20343F"/>
          </a:solidFill>
          <a:ln w="31750">
            <a:solidFill>
              <a:srgbClr val="8EE6B8"/>
            </a:solidFill>
            <a:prstDash val="solid"/>
          </a:ln>
        </p:spPr>
      </p:sp>
      <p:sp>
        <p:nvSpPr>
          <p:cNvPr id="8" name="Text 6"/>
          <p:cNvSpPr txBox="1"/>
          <p:nvPr/>
        </p:nvSpPr>
        <p:spPr>
          <a:xfrm>
            <a:off x="3330702" y="1280160"/>
            <a:ext cx="2654046" cy="1097280"/>
          </a:xfrm>
          <a:prstGeom prst="rect">
            <a:avLst/>
          </a:prstGeom>
          <a:noFill/>
          <a:ln/>
        </p:spPr>
        <p:txBody>
          <a:bodyPr wrap="square" lIns="0" tIns="0" rIns="0" bIns="0" rtlCol="0" anchor="ctr">
            <a:normAutofit/>
          </a:bodyPr>
          <a:lstStyle/>
          <a:p>
            <a:pPr algn="ctr" indent="0" marL="0">
              <a:buNone/>
            </a:pPr>
            <a:r>
              <a:rPr lang="en-US" sz="4000" b="1" dirty="0">
                <a:solidFill>
                  <a:srgbClr val="8EE6B8"/>
                </a:solidFill>
                <a:latin typeface="Calibri" pitchFamily="34" charset="0"/>
                <a:ea typeface="Calibri" pitchFamily="34" charset="-122"/>
                <a:cs typeface="Calibri" pitchFamily="34" charset="-120"/>
              </a:rPr>
              <a:t>3</a:t>
            </a:r>
            <a:endParaRPr lang="en-US" sz="4000" dirty="0"/>
          </a:p>
        </p:txBody>
      </p:sp>
      <p:sp>
        <p:nvSpPr>
          <p:cNvPr id="9" name="Text 7"/>
          <p:cNvSpPr txBox="1"/>
          <p:nvPr/>
        </p:nvSpPr>
        <p:spPr>
          <a:xfrm>
            <a:off x="3467862" y="2423160"/>
            <a:ext cx="2379726" cy="914400"/>
          </a:xfrm>
          <a:prstGeom prst="rect">
            <a:avLst/>
          </a:prstGeom>
          <a:noFill/>
          <a:ln/>
        </p:spPr>
        <p:txBody>
          <a:bodyPr wrap="square" lIns="0" tIns="0" rIns="0" bIns="0" rtlCol="0" anchor="t">
            <a:normAutofit/>
          </a:bodyPr>
          <a:lstStyle/>
          <a:p>
            <a:pPr algn="ctr" indent="0" marL="0">
              <a:buNone/>
            </a:pPr>
            <a:r>
              <a:rPr lang="en-US" sz="1500" dirty="0">
                <a:solidFill>
                  <a:srgbClr val="E8F1F2"/>
                </a:solidFill>
                <a:latin typeface="Calibri" pitchFamily="34" charset="0"/>
                <a:ea typeface="Calibri" pitchFamily="34" charset="-122"/>
                <a:cs typeface="Calibri" pitchFamily="34" charset="-120"/>
              </a:rPr>
              <a:t>restauraciones reales ensayadas con éxito</a:t>
            </a:r>
            <a:endParaRPr lang="en-US" sz="1500" dirty="0"/>
          </a:p>
        </p:txBody>
      </p:sp>
      <p:sp>
        <p:nvSpPr>
          <p:cNvPr id="10" name="Shape 8"/>
          <p:cNvSpPr/>
          <p:nvPr/>
        </p:nvSpPr>
        <p:spPr>
          <a:xfrm>
            <a:off x="6204204" y="1143000"/>
            <a:ext cx="2654046" cy="2331720"/>
          </a:xfrm>
          <a:prstGeom prst="roundRect">
            <a:avLst>
              <a:gd name="adj" fmla="val 6275"/>
            </a:avLst>
          </a:prstGeom>
          <a:solidFill>
            <a:srgbClr val="20343F"/>
          </a:solidFill>
          <a:ln w="31750">
            <a:solidFill>
              <a:srgbClr val="F2B35A"/>
            </a:solidFill>
            <a:prstDash val="solid"/>
          </a:ln>
        </p:spPr>
      </p:sp>
      <p:sp>
        <p:nvSpPr>
          <p:cNvPr id="11" name="Text 9"/>
          <p:cNvSpPr txBox="1"/>
          <p:nvPr/>
        </p:nvSpPr>
        <p:spPr>
          <a:xfrm>
            <a:off x="6204204" y="1280160"/>
            <a:ext cx="2654046" cy="1097280"/>
          </a:xfrm>
          <a:prstGeom prst="rect">
            <a:avLst/>
          </a:prstGeom>
          <a:noFill/>
          <a:ln/>
        </p:spPr>
        <p:txBody>
          <a:bodyPr wrap="square" lIns="0" tIns="0" rIns="0" bIns="0" rtlCol="0" anchor="ctr">
            <a:normAutofit/>
          </a:bodyPr>
          <a:lstStyle/>
          <a:p>
            <a:pPr algn="ctr" indent="0" marL="0">
              <a:buNone/>
            </a:pPr>
            <a:r>
              <a:rPr lang="en-US" sz="4000" b="1" dirty="0">
                <a:solidFill>
                  <a:srgbClr val="F2B35A"/>
                </a:solidFill>
                <a:latin typeface="Calibri" pitchFamily="34" charset="0"/>
                <a:ea typeface="Calibri" pitchFamily="34" charset="-122"/>
                <a:cs typeface="Calibri" pitchFamily="34" charset="-120"/>
              </a:rPr>
              <a:t>15</a:t>
            </a:r>
            <a:endParaRPr lang="en-US" sz="4000" dirty="0"/>
          </a:p>
        </p:txBody>
      </p:sp>
      <p:sp>
        <p:nvSpPr>
          <p:cNvPr id="12" name="Text 10"/>
          <p:cNvSpPr txBox="1"/>
          <p:nvPr/>
        </p:nvSpPr>
        <p:spPr>
          <a:xfrm>
            <a:off x="6341364" y="2423160"/>
            <a:ext cx="2379726" cy="914400"/>
          </a:xfrm>
          <a:prstGeom prst="rect">
            <a:avLst/>
          </a:prstGeom>
          <a:noFill/>
          <a:ln/>
        </p:spPr>
        <p:txBody>
          <a:bodyPr wrap="square" lIns="0" tIns="0" rIns="0" bIns="0" rtlCol="0" anchor="t">
            <a:normAutofit/>
          </a:bodyPr>
          <a:lstStyle/>
          <a:p>
            <a:pPr algn="ctr" indent="0" marL="0">
              <a:buNone/>
            </a:pPr>
            <a:r>
              <a:rPr lang="en-US" sz="1500" dirty="0">
                <a:solidFill>
                  <a:srgbClr val="E8F1F2"/>
                </a:solidFill>
                <a:latin typeface="Calibri" pitchFamily="34" charset="0"/>
                <a:ea typeface="Calibri" pitchFamily="34" charset="-122"/>
                <a:cs typeface="Calibri" pitchFamily="34" charset="-120"/>
              </a:rPr>
              <a:t>decisiones de arquitectura documentadas</a:t>
            </a:r>
            <a:endParaRPr lang="en-US" sz="1500" dirty="0"/>
          </a:p>
        </p:txBody>
      </p:sp>
      <p:sp>
        <p:nvSpPr>
          <p:cNvPr id="13" name="Shape 11"/>
          <p:cNvSpPr/>
          <p:nvPr/>
        </p:nvSpPr>
        <p:spPr>
          <a:xfrm>
            <a:off x="9077706" y="1143000"/>
            <a:ext cx="2654046" cy="2331720"/>
          </a:xfrm>
          <a:prstGeom prst="roundRect">
            <a:avLst>
              <a:gd name="adj" fmla="val 6275"/>
            </a:avLst>
          </a:prstGeom>
          <a:solidFill>
            <a:srgbClr val="20343F"/>
          </a:solidFill>
          <a:ln w="31750">
            <a:solidFill>
              <a:srgbClr val="A99CF0"/>
            </a:solidFill>
            <a:prstDash val="solid"/>
          </a:ln>
        </p:spPr>
      </p:sp>
      <p:sp>
        <p:nvSpPr>
          <p:cNvPr id="14" name="Text 12"/>
          <p:cNvSpPr txBox="1"/>
          <p:nvPr/>
        </p:nvSpPr>
        <p:spPr>
          <a:xfrm>
            <a:off x="9077706" y="1280160"/>
            <a:ext cx="2654046" cy="1097280"/>
          </a:xfrm>
          <a:prstGeom prst="rect">
            <a:avLst/>
          </a:prstGeom>
          <a:noFill/>
          <a:ln/>
        </p:spPr>
        <p:txBody>
          <a:bodyPr wrap="square" lIns="0" tIns="0" rIns="0" bIns="0" rtlCol="0" anchor="ctr">
            <a:normAutofit/>
          </a:bodyPr>
          <a:lstStyle/>
          <a:p>
            <a:pPr algn="ctr" indent="0" marL="0">
              <a:buNone/>
            </a:pPr>
            <a:r>
              <a:rPr lang="en-US" sz="4000" b="1" dirty="0">
                <a:solidFill>
                  <a:srgbClr val="A99CF0"/>
                </a:solidFill>
                <a:latin typeface="Calibri" pitchFamily="34" charset="0"/>
                <a:ea typeface="Calibri" pitchFamily="34" charset="-122"/>
                <a:cs typeface="Calibri" pitchFamily="34" charset="-120"/>
              </a:rPr>
              <a:t>144</a:t>
            </a:r>
            <a:endParaRPr lang="en-US" sz="4000" dirty="0"/>
          </a:p>
        </p:txBody>
      </p:sp>
      <p:sp>
        <p:nvSpPr>
          <p:cNvPr id="15" name="Text 13"/>
          <p:cNvSpPr txBox="1"/>
          <p:nvPr/>
        </p:nvSpPr>
        <p:spPr>
          <a:xfrm>
            <a:off x="9214866" y="2423160"/>
            <a:ext cx="2379726" cy="914400"/>
          </a:xfrm>
          <a:prstGeom prst="rect">
            <a:avLst/>
          </a:prstGeom>
          <a:noFill/>
          <a:ln/>
        </p:spPr>
        <p:txBody>
          <a:bodyPr wrap="square" lIns="0" tIns="0" rIns="0" bIns="0" rtlCol="0" anchor="t">
            <a:normAutofit/>
          </a:bodyPr>
          <a:lstStyle/>
          <a:p>
            <a:pPr algn="ctr" indent="0" marL="0">
              <a:buNone/>
            </a:pPr>
            <a:r>
              <a:rPr lang="en-US" sz="1500" dirty="0">
                <a:solidFill>
                  <a:srgbClr val="E8F1F2"/>
                </a:solidFill>
                <a:latin typeface="Calibri" pitchFamily="34" charset="0"/>
                <a:ea typeface="Calibri" pitchFamily="34" charset="-122"/>
                <a:cs typeface="Calibri" pitchFamily="34" charset="-120"/>
              </a:rPr>
              <a:t>páginas de informe con evidencia real</a:t>
            </a:r>
            <a:endParaRPr lang="en-US" sz="1500" dirty="0"/>
          </a:p>
        </p:txBody>
      </p:sp>
      <p:sp>
        <p:nvSpPr>
          <p:cNvPr id="16" name="Shape 14"/>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17" name="Text 15"/>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Nueve pruebas de estrés con tiempos medidos, tres restauraciones reales ensayadas con éxito, quince decisiones de arquitectura documentadas y ciento cuarenta y cuatro páginas de informe con evidencia real.</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Cómo se conecta con la carrera</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CIERRE</a:t>
            </a:r>
            <a:endParaRPr lang="en-US" sz="1100" dirty="0"/>
          </a:p>
        </p:txBody>
      </p:sp>
      <p:pic>
        <p:nvPicPr>
          <p:cNvPr id="4" name="Image 0" descr="C:\Users\HP\Desktop\crm-empresarial\docs\practica-profesional\presentacion\ppt\img\i31_ramos.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Cada asignatura tiene un componente real y verificable</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El cronograma de las 360 horas</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CIERRE</a:t>
            </a:r>
            <a:endParaRPr lang="en-US" sz="1100" dirty="0"/>
          </a:p>
        </p:txBody>
      </p:sp>
      <p:sp>
        <p:nvSpPr>
          <p:cNvPr id="4" name="Shape 2"/>
          <p:cNvSpPr/>
          <p:nvPr/>
        </p:nvSpPr>
        <p:spPr>
          <a:xfrm>
            <a:off x="1646642" y="1024128"/>
            <a:ext cx="8895668" cy="4764024"/>
          </a:xfrm>
          <a:prstGeom prst="roundRect">
            <a:avLst>
              <a:gd name="adj" fmla="val 1919"/>
            </a:avLst>
          </a:prstGeom>
          <a:solidFill>
            <a:srgbClr val="F4F5F2"/>
          </a:solidFill>
          <a:ln w="12700">
            <a:solidFill>
              <a:srgbClr val="3D5C69"/>
            </a:solidFill>
            <a:prstDash val="solid"/>
          </a:ln>
        </p:spPr>
      </p:sp>
      <p:pic>
        <p:nvPicPr>
          <p:cNvPr id="5" name="Image 0" descr="C:\Users\HP\Desktop\crm-empresarial\docs\practica-profesional\diagramas\05-cronograma-gantt.png">    </p:cNvPr>
          <p:cNvPicPr>
            <a:picLocks noChangeAspect="1"/>
          </p:cNvPicPr>
          <p:nvPr/>
        </p:nvPicPr>
        <p:blipFill>
          <a:blip r:embed="rId1"/>
          <a:stretch>
            <a:fillRect/>
          </a:stretch>
        </p:blipFill>
        <p:spPr>
          <a:xfrm>
            <a:off x="1719794" y="1097280"/>
            <a:ext cx="8749364" cy="4617720"/>
          </a:xfrm>
          <a:prstGeom prst="rect">
            <a:avLst/>
          </a:prstGeom>
        </p:spPr>
      </p:pic>
      <p:sp>
        <p:nvSpPr>
          <p:cNvPr id="6" name="Text 3"/>
          <p:cNvSpPr txBox="1"/>
          <p:nvPr/>
        </p:nvSpPr>
        <p:spPr>
          <a:xfrm>
            <a:off x="1628354" y="5852160"/>
            <a:ext cx="8932244" cy="457200"/>
          </a:xfrm>
          <a:prstGeom prst="rect">
            <a:avLst/>
          </a:prstGeom>
          <a:noFill/>
          <a:ln/>
        </p:spPr>
        <p:txBody>
          <a:bodyPr wrap="square" lIns="0" tIns="0" rIns="0" bIns="0" rtlCol="0" anchor="t">
            <a:normAutofit/>
          </a:bodyPr>
          <a:lstStyle/>
          <a:p>
            <a:pPr algn="ctr" indent="0" marL="0">
              <a:buNone/>
            </a:pPr>
            <a:r>
              <a:rPr lang="en-US" sz="1200" dirty="0">
                <a:solidFill>
                  <a:srgbClr val="9DB2BA"/>
                </a:solidFill>
                <a:latin typeface="Calibri" pitchFamily="34" charset="0"/>
                <a:ea typeface="Calibri" pitchFamily="34" charset="-122"/>
                <a:cs typeface="Calibri" pitchFamily="34" charset="-120"/>
              </a:rPr>
              <a:t>8 fases, del 28 de septiembre al 27 de noviembre de 2026</a:t>
            </a:r>
            <a:endParaRPr lang="en-US" sz="12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Qué sigue</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CIERRE</a:t>
            </a:r>
            <a:endParaRPr lang="en-US" sz="1100" dirty="0"/>
          </a:p>
        </p:txBody>
      </p:sp>
      <p:pic>
        <p:nvPicPr>
          <p:cNvPr id="4" name="Image 0" descr="C:\Users\HP\Desktop\crm-empresarial\docs\practica-profesional\presentacion\ppt\img\i30_proximos_pasos.png">    </p:cNvPr>
          <p:cNvPicPr>
            <a:picLocks noChangeAspect="1"/>
          </p:cNvPicPr>
          <p:nvPr/>
        </p:nvPicPr>
        <p:blipFill>
          <a:blip r:embed="rId1"/>
          <a:stretch>
            <a:fillRect/>
          </a:stretch>
        </p:blipFill>
        <p:spPr>
          <a:xfrm>
            <a:off x="457200" y="1097280"/>
            <a:ext cx="11274552" cy="4855464"/>
          </a:xfrm>
          <a:prstGeom prst="rect">
            <a:avLst/>
          </a:prstGeom>
        </p:spPr>
      </p:pic>
      <p:sp>
        <p:nvSpPr>
          <p:cNvPr id="5" name="Shape 2"/>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6" name="Text 3"/>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Cada paso construye sobre lo ya probado</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82A34"/>
        </a:solidFill>
      </p:bgPr>
    </p:bg>
    <p:spTree>
      <p:nvGrpSpPr>
        <p:cNvPr id="1" name=""/>
        <p:cNvGrpSpPr/>
        <p:nvPr/>
      </p:nvGrpSpPr>
      <p:grpSpPr>
        <a:xfrm>
          <a:off x="0" y="0"/>
          <a:ext cx="0" cy="0"/>
          <a:chOff x="0" y="0"/>
          <a:chExt cx="0" cy="0"/>
        </a:xfrm>
      </p:grpSpPr>
      <p:sp>
        <p:nvSpPr>
          <p:cNvPr id="2" name="Text 0"/>
          <p:cNvSpPr txBox="1"/>
          <p:nvPr/>
        </p:nvSpPr>
        <p:spPr>
          <a:xfrm>
            <a:off x="548640" y="274320"/>
            <a:ext cx="9418320" cy="685800"/>
          </a:xfrm>
          <a:prstGeom prst="rect">
            <a:avLst/>
          </a:prstGeom>
          <a:noFill/>
          <a:ln/>
        </p:spPr>
        <p:txBody>
          <a:bodyPr wrap="square" lIns="0" tIns="0" rIns="0" bIns="0" rtlCol="0" anchor="ctr">
            <a:normAutofit/>
          </a:bodyPr>
          <a:lstStyle/>
          <a:p>
            <a:pPr indent="0" marL="0">
              <a:buNone/>
            </a:pPr>
            <a:r>
              <a:rPr lang="en-US" sz="3000" b="1" dirty="0">
                <a:solidFill>
                  <a:srgbClr val="E8F1F2"/>
                </a:solidFill>
                <a:latin typeface="Calibri" pitchFamily="34" charset="0"/>
                <a:ea typeface="Calibri" pitchFamily="34" charset="-122"/>
                <a:cs typeface="Calibri" pitchFamily="34" charset="-120"/>
              </a:rPr>
              <a:t>Conclusiones</a:t>
            </a:r>
            <a:endParaRPr lang="en-US" sz="3000" dirty="0"/>
          </a:p>
        </p:txBody>
      </p:sp>
      <p:sp>
        <p:nvSpPr>
          <p:cNvPr id="3" name="Text 1"/>
          <p:cNvSpPr txBox="1"/>
          <p:nvPr/>
        </p:nvSpPr>
        <p:spPr>
          <a:xfrm>
            <a:off x="8229600" y="109728"/>
            <a:ext cx="3429000" cy="274320"/>
          </a:xfrm>
          <a:prstGeom prst="rect">
            <a:avLst/>
          </a:prstGeom>
          <a:noFill/>
          <a:ln/>
        </p:spPr>
        <p:txBody>
          <a:bodyPr wrap="square" lIns="0" tIns="0" rIns="0" bIns="0" rtlCol="0" anchor="ctr"/>
          <a:lstStyle/>
          <a:p>
            <a:pPr algn="r" indent="0" marL="0">
              <a:buNone/>
            </a:pPr>
            <a:r>
              <a:rPr lang="en-US" sz="1100" spc="200" kern="0" dirty="0">
                <a:solidFill>
                  <a:srgbClr val="9DB2BA"/>
                </a:solidFill>
                <a:latin typeface="Calibri" pitchFamily="34" charset="0"/>
                <a:ea typeface="Calibri" pitchFamily="34" charset="-122"/>
                <a:cs typeface="Calibri" pitchFamily="34" charset="-120"/>
              </a:rPr>
              <a:t>CIERRE</a:t>
            </a:r>
            <a:endParaRPr lang="en-US" sz="1100" dirty="0"/>
          </a:p>
        </p:txBody>
      </p:sp>
      <p:sp>
        <p:nvSpPr>
          <p:cNvPr id="4" name="Shape 2"/>
          <p:cNvSpPr/>
          <p:nvPr/>
        </p:nvSpPr>
        <p:spPr>
          <a:xfrm>
            <a:off x="548640" y="1298448"/>
            <a:ext cx="566928" cy="566928"/>
          </a:xfrm>
          <a:prstGeom prst="ellipse">
            <a:avLst/>
          </a:prstGeom>
          <a:solidFill>
            <a:srgbClr val="20343F"/>
          </a:solidFill>
          <a:ln w="31750">
            <a:solidFill>
              <a:srgbClr val="5FD3C8"/>
            </a:solidFill>
            <a:prstDash val="solid"/>
          </a:ln>
        </p:spPr>
      </p:sp>
      <p:sp>
        <p:nvSpPr>
          <p:cNvPr id="5" name="Text 3"/>
          <p:cNvSpPr txBox="1"/>
          <p:nvPr/>
        </p:nvSpPr>
        <p:spPr>
          <a:xfrm>
            <a:off x="548640" y="1298448"/>
            <a:ext cx="566928" cy="566928"/>
          </a:xfrm>
          <a:prstGeom prst="rect">
            <a:avLst/>
          </a:prstGeom>
          <a:noFill/>
          <a:ln/>
        </p:spPr>
        <p:txBody>
          <a:bodyPr wrap="square" lIns="0" tIns="0" rIns="0" bIns="0" rtlCol="0" anchor="ctr"/>
          <a:lstStyle/>
          <a:p>
            <a:pPr algn="ctr" indent="0" marL="0">
              <a:buNone/>
            </a:pPr>
            <a:r>
              <a:rPr lang="en-US" sz="2200" b="1" dirty="0">
                <a:solidFill>
                  <a:srgbClr val="5FD3C8"/>
                </a:solidFill>
                <a:latin typeface="Calibri" pitchFamily="34" charset="0"/>
                <a:ea typeface="Calibri" pitchFamily="34" charset="-122"/>
                <a:cs typeface="Calibri" pitchFamily="34" charset="-120"/>
              </a:rPr>
              <a:t>1</a:t>
            </a:r>
            <a:endParaRPr lang="en-US" sz="2200" dirty="0"/>
          </a:p>
        </p:txBody>
      </p:sp>
      <p:sp>
        <p:nvSpPr>
          <p:cNvPr id="6" name="Text 4"/>
          <p:cNvSpPr txBox="1"/>
          <p:nvPr/>
        </p:nvSpPr>
        <p:spPr>
          <a:xfrm>
            <a:off x="1371600" y="1188720"/>
            <a:ext cx="10241280" cy="457200"/>
          </a:xfrm>
          <a:prstGeom prst="rect">
            <a:avLst/>
          </a:prstGeom>
          <a:noFill/>
          <a:ln/>
        </p:spPr>
        <p:txBody>
          <a:bodyPr wrap="square" lIns="0" tIns="0" rIns="0" bIns="0" rtlCol="0" anchor="ctr">
            <a:normAutofit/>
          </a:bodyPr>
          <a:lstStyle/>
          <a:p>
            <a:pPr indent="0" marL="0">
              <a:buNone/>
            </a:pPr>
            <a:r>
              <a:rPr lang="en-US" sz="2200" b="1" dirty="0">
                <a:solidFill>
                  <a:srgbClr val="5FD3C8"/>
                </a:solidFill>
                <a:latin typeface="Calibri" pitchFamily="34" charset="0"/>
                <a:ea typeface="Calibri" pitchFamily="34" charset="-122"/>
                <a:cs typeface="Calibri" pitchFamily="34" charset="-120"/>
              </a:rPr>
              <a:t>La infraestructura es el aporte de esta práctica</a:t>
            </a:r>
            <a:endParaRPr lang="en-US" sz="2200" dirty="0"/>
          </a:p>
        </p:txBody>
      </p:sp>
      <p:sp>
        <p:nvSpPr>
          <p:cNvPr id="7" name="Text 5"/>
          <p:cNvSpPr txBox="1"/>
          <p:nvPr/>
        </p:nvSpPr>
        <p:spPr>
          <a:xfrm>
            <a:off x="1371600" y="1645920"/>
            <a:ext cx="10241280" cy="594360"/>
          </a:xfrm>
          <a:prstGeom prst="rect">
            <a:avLst/>
          </a:prstGeom>
          <a:noFill/>
          <a:ln/>
        </p:spPr>
        <p:txBody>
          <a:bodyPr wrap="square" lIns="0" tIns="0" rIns="0" bIns="0" rtlCol="0" anchor="t">
            <a:normAutofit/>
          </a:bodyPr>
          <a:lstStyle/>
          <a:p>
            <a:pPr indent="0" marL="0">
              <a:buNone/>
            </a:pPr>
            <a:r>
              <a:rPr lang="en-US" sz="1700" dirty="0">
                <a:solidFill>
                  <a:srgbClr val="E8F1F2"/>
                </a:solidFill>
                <a:latin typeface="Calibri" pitchFamily="34" charset="0"/>
                <a:ea typeface="Calibri" pitchFamily="34" charset="-122"/>
                <a:cs typeface="Calibri" pitchFamily="34" charset="-120"/>
              </a:rPr>
              <a:t>El CRM es el caso de uso real; el valor entregado es la red, la redundancia, la nube y el respaldo que lo sostienen.</a:t>
            </a:r>
            <a:endParaRPr lang="en-US" sz="1700" dirty="0"/>
          </a:p>
        </p:txBody>
      </p:sp>
      <p:sp>
        <p:nvSpPr>
          <p:cNvPr id="8" name="Shape 6"/>
          <p:cNvSpPr/>
          <p:nvPr/>
        </p:nvSpPr>
        <p:spPr>
          <a:xfrm>
            <a:off x="548640" y="2487168"/>
            <a:ext cx="566928" cy="566928"/>
          </a:xfrm>
          <a:prstGeom prst="ellipse">
            <a:avLst/>
          </a:prstGeom>
          <a:solidFill>
            <a:srgbClr val="20343F"/>
          </a:solidFill>
          <a:ln w="31750">
            <a:solidFill>
              <a:srgbClr val="8EE6B8"/>
            </a:solidFill>
            <a:prstDash val="solid"/>
          </a:ln>
        </p:spPr>
      </p:sp>
      <p:sp>
        <p:nvSpPr>
          <p:cNvPr id="9" name="Text 7"/>
          <p:cNvSpPr txBox="1"/>
          <p:nvPr/>
        </p:nvSpPr>
        <p:spPr>
          <a:xfrm>
            <a:off x="548640" y="2487168"/>
            <a:ext cx="566928" cy="566928"/>
          </a:xfrm>
          <a:prstGeom prst="rect">
            <a:avLst/>
          </a:prstGeom>
          <a:noFill/>
          <a:ln/>
        </p:spPr>
        <p:txBody>
          <a:bodyPr wrap="square" lIns="0" tIns="0" rIns="0" bIns="0" rtlCol="0" anchor="ctr"/>
          <a:lstStyle/>
          <a:p>
            <a:pPr algn="ctr" indent="0" marL="0">
              <a:buNone/>
            </a:pPr>
            <a:r>
              <a:rPr lang="en-US" sz="2200" b="1" dirty="0">
                <a:solidFill>
                  <a:srgbClr val="8EE6B8"/>
                </a:solidFill>
                <a:latin typeface="Calibri" pitchFamily="34" charset="0"/>
                <a:ea typeface="Calibri" pitchFamily="34" charset="-122"/>
                <a:cs typeface="Calibri" pitchFamily="34" charset="-120"/>
              </a:rPr>
              <a:t>2</a:t>
            </a:r>
            <a:endParaRPr lang="en-US" sz="2200" dirty="0"/>
          </a:p>
        </p:txBody>
      </p:sp>
      <p:sp>
        <p:nvSpPr>
          <p:cNvPr id="10" name="Text 8"/>
          <p:cNvSpPr txBox="1"/>
          <p:nvPr/>
        </p:nvSpPr>
        <p:spPr>
          <a:xfrm>
            <a:off x="1371600" y="2377440"/>
            <a:ext cx="10241280" cy="457200"/>
          </a:xfrm>
          <a:prstGeom prst="rect">
            <a:avLst/>
          </a:prstGeom>
          <a:noFill/>
          <a:ln/>
        </p:spPr>
        <p:txBody>
          <a:bodyPr wrap="square" lIns="0" tIns="0" rIns="0" bIns="0" rtlCol="0" anchor="ctr">
            <a:normAutofit/>
          </a:bodyPr>
          <a:lstStyle/>
          <a:p>
            <a:pPr indent="0" marL="0">
              <a:buNone/>
            </a:pPr>
            <a:r>
              <a:rPr lang="en-US" sz="2200" b="1" dirty="0">
                <a:solidFill>
                  <a:srgbClr val="8EE6B8"/>
                </a:solidFill>
                <a:latin typeface="Calibri" pitchFamily="34" charset="0"/>
                <a:ea typeface="Calibri" pitchFamily="34" charset="-122"/>
                <a:cs typeface="Calibri" pitchFamily="34" charset="-120"/>
              </a:rPr>
              <a:t>La continuidad se demostró, no se supuso</a:t>
            </a:r>
            <a:endParaRPr lang="en-US" sz="2200" dirty="0"/>
          </a:p>
        </p:txBody>
      </p:sp>
      <p:sp>
        <p:nvSpPr>
          <p:cNvPr id="11" name="Text 9"/>
          <p:cNvSpPr txBox="1"/>
          <p:nvPr/>
        </p:nvSpPr>
        <p:spPr>
          <a:xfrm>
            <a:off x="1371600" y="2834640"/>
            <a:ext cx="10241280" cy="594360"/>
          </a:xfrm>
          <a:prstGeom prst="rect">
            <a:avLst/>
          </a:prstGeom>
          <a:noFill/>
          <a:ln/>
        </p:spPr>
        <p:txBody>
          <a:bodyPr wrap="square" lIns="0" tIns="0" rIns="0" bIns="0" rtlCol="0" anchor="t">
            <a:normAutofit/>
          </a:bodyPr>
          <a:lstStyle/>
          <a:p>
            <a:pPr indent="0" marL="0">
              <a:buNone/>
            </a:pPr>
            <a:r>
              <a:rPr lang="en-US" sz="1700" dirty="0">
                <a:solidFill>
                  <a:srgbClr val="E8F1F2"/>
                </a:solidFill>
                <a:latin typeface="Calibri" pitchFamily="34" charset="0"/>
                <a:ea typeface="Calibri" pitchFamily="34" charset="-122"/>
                <a:cs typeface="Calibri" pitchFamily="34" charset="-120"/>
              </a:rPr>
              <a:t>Diez pruebas de estrés con tiempos medidos; el servicio respondió en todas.</a:t>
            </a:r>
            <a:endParaRPr lang="en-US" sz="1700" dirty="0"/>
          </a:p>
        </p:txBody>
      </p:sp>
      <p:sp>
        <p:nvSpPr>
          <p:cNvPr id="12" name="Shape 10"/>
          <p:cNvSpPr/>
          <p:nvPr/>
        </p:nvSpPr>
        <p:spPr>
          <a:xfrm>
            <a:off x="548640" y="3675888"/>
            <a:ext cx="566928" cy="566928"/>
          </a:xfrm>
          <a:prstGeom prst="ellipse">
            <a:avLst/>
          </a:prstGeom>
          <a:solidFill>
            <a:srgbClr val="20343F"/>
          </a:solidFill>
          <a:ln w="31750">
            <a:solidFill>
              <a:srgbClr val="F2B35A"/>
            </a:solidFill>
            <a:prstDash val="solid"/>
          </a:ln>
        </p:spPr>
      </p:sp>
      <p:sp>
        <p:nvSpPr>
          <p:cNvPr id="13" name="Text 11"/>
          <p:cNvSpPr txBox="1"/>
          <p:nvPr/>
        </p:nvSpPr>
        <p:spPr>
          <a:xfrm>
            <a:off x="548640" y="3675888"/>
            <a:ext cx="566928" cy="566928"/>
          </a:xfrm>
          <a:prstGeom prst="rect">
            <a:avLst/>
          </a:prstGeom>
          <a:noFill/>
          <a:ln/>
        </p:spPr>
        <p:txBody>
          <a:bodyPr wrap="square" lIns="0" tIns="0" rIns="0" bIns="0" rtlCol="0" anchor="ctr"/>
          <a:lstStyle/>
          <a:p>
            <a:pPr algn="ctr" indent="0" marL="0">
              <a:buNone/>
            </a:pPr>
            <a:r>
              <a:rPr lang="en-US" sz="2200" b="1" dirty="0">
                <a:solidFill>
                  <a:srgbClr val="F2B35A"/>
                </a:solidFill>
                <a:latin typeface="Calibri" pitchFamily="34" charset="0"/>
                <a:ea typeface="Calibri" pitchFamily="34" charset="-122"/>
                <a:cs typeface="Calibri" pitchFamily="34" charset="-120"/>
              </a:rPr>
              <a:t>3</a:t>
            </a:r>
            <a:endParaRPr lang="en-US" sz="2200" dirty="0"/>
          </a:p>
        </p:txBody>
      </p:sp>
      <p:sp>
        <p:nvSpPr>
          <p:cNvPr id="14" name="Text 12"/>
          <p:cNvSpPr txBox="1"/>
          <p:nvPr/>
        </p:nvSpPr>
        <p:spPr>
          <a:xfrm>
            <a:off x="1371600" y="3566160"/>
            <a:ext cx="10241280" cy="457200"/>
          </a:xfrm>
          <a:prstGeom prst="rect">
            <a:avLst/>
          </a:prstGeom>
          <a:noFill/>
          <a:ln/>
        </p:spPr>
        <p:txBody>
          <a:bodyPr wrap="square" lIns="0" tIns="0" rIns="0" bIns="0" rtlCol="0" anchor="ctr">
            <a:normAutofit/>
          </a:bodyPr>
          <a:lstStyle/>
          <a:p>
            <a:pPr indent="0" marL="0">
              <a:buNone/>
            </a:pPr>
            <a:r>
              <a:rPr lang="en-US" sz="2200" b="1" dirty="0">
                <a:solidFill>
                  <a:srgbClr val="F2B35A"/>
                </a:solidFill>
                <a:latin typeface="Calibri" pitchFamily="34" charset="0"/>
                <a:ea typeface="Calibri" pitchFamily="34" charset="-122"/>
                <a:cs typeface="Calibri" pitchFamily="34" charset="-120"/>
              </a:rPr>
              <a:t>El sistema tolera hasta dos caídas simultáneas</a:t>
            </a:r>
            <a:endParaRPr lang="en-US" sz="2200" dirty="0"/>
          </a:p>
        </p:txBody>
      </p:sp>
      <p:sp>
        <p:nvSpPr>
          <p:cNvPr id="15" name="Text 13"/>
          <p:cNvSpPr txBox="1"/>
          <p:nvPr/>
        </p:nvSpPr>
        <p:spPr>
          <a:xfrm>
            <a:off x="1371600" y="4023360"/>
            <a:ext cx="10241280" cy="594360"/>
          </a:xfrm>
          <a:prstGeom prst="rect">
            <a:avLst/>
          </a:prstGeom>
          <a:noFill/>
          <a:ln/>
        </p:spPr>
        <p:txBody>
          <a:bodyPr wrap="square" lIns="0" tIns="0" rIns="0" bIns="0" rtlCol="0" anchor="t">
            <a:normAutofit/>
          </a:bodyPr>
          <a:lstStyle/>
          <a:p>
            <a:pPr indent="0" marL="0">
              <a:buNone/>
            </a:pPr>
            <a:r>
              <a:rPr lang="en-US" sz="1700" dirty="0">
                <a:solidFill>
                  <a:srgbClr val="E8F1F2"/>
                </a:solidFill>
                <a:latin typeface="Calibri" pitchFamily="34" charset="0"/>
                <a:ea typeface="Calibri" pitchFamily="34" charset="-122"/>
                <a:cs typeface="Calibri" pitchFamily="34" charset="-120"/>
              </a:rPr>
              <a:t>El árbitro de continuidad, con cinco votos, sostiene el servicio incluso ante dos máquinas apagadas a la vez.</a:t>
            </a:r>
            <a:endParaRPr lang="en-US" sz="1700" dirty="0"/>
          </a:p>
        </p:txBody>
      </p:sp>
      <p:sp>
        <p:nvSpPr>
          <p:cNvPr id="16" name="Shape 14"/>
          <p:cNvSpPr/>
          <p:nvPr/>
        </p:nvSpPr>
        <p:spPr>
          <a:xfrm>
            <a:off x="548640" y="4864608"/>
            <a:ext cx="566928" cy="566928"/>
          </a:xfrm>
          <a:prstGeom prst="ellipse">
            <a:avLst/>
          </a:prstGeom>
          <a:solidFill>
            <a:srgbClr val="20343F"/>
          </a:solidFill>
          <a:ln w="31750">
            <a:solidFill>
              <a:srgbClr val="A99CF0"/>
            </a:solidFill>
            <a:prstDash val="solid"/>
          </a:ln>
        </p:spPr>
      </p:sp>
      <p:sp>
        <p:nvSpPr>
          <p:cNvPr id="17" name="Text 15"/>
          <p:cNvSpPr txBox="1"/>
          <p:nvPr/>
        </p:nvSpPr>
        <p:spPr>
          <a:xfrm>
            <a:off x="548640" y="4864608"/>
            <a:ext cx="566928" cy="566928"/>
          </a:xfrm>
          <a:prstGeom prst="rect">
            <a:avLst/>
          </a:prstGeom>
          <a:noFill/>
          <a:ln/>
        </p:spPr>
        <p:txBody>
          <a:bodyPr wrap="square" lIns="0" tIns="0" rIns="0" bIns="0" rtlCol="0" anchor="ctr"/>
          <a:lstStyle/>
          <a:p>
            <a:pPr algn="ctr" indent="0" marL="0">
              <a:buNone/>
            </a:pPr>
            <a:r>
              <a:rPr lang="en-US" sz="2200" b="1" dirty="0">
                <a:solidFill>
                  <a:srgbClr val="A99CF0"/>
                </a:solidFill>
                <a:latin typeface="Calibri" pitchFamily="34" charset="0"/>
                <a:ea typeface="Calibri" pitchFamily="34" charset="-122"/>
                <a:cs typeface="Calibri" pitchFamily="34" charset="-120"/>
              </a:rPr>
              <a:t>4</a:t>
            </a:r>
            <a:endParaRPr lang="en-US" sz="2200" dirty="0"/>
          </a:p>
        </p:txBody>
      </p:sp>
      <p:sp>
        <p:nvSpPr>
          <p:cNvPr id="18" name="Text 16"/>
          <p:cNvSpPr txBox="1"/>
          <p:nvPr/>
        </p:nvSpPr>
        <p:spPr>
          <a:xfrm>
            <a:off x="1371600" y="4754880"/>
            <a:ext cx="10241280" cy="457200"/>
          </a:xfrm>
          <a:prstGeom prst="rect">
            <a:avLst/>
          </a:prstGeom>
          <a:noFill/>
          <a:ln/>
        </p:spPr>
        <p:txBody>
          <a:bodyPr wrap="square" lIns="0" tIns="0" rIns="0" bIns="0" rtlCol="0" anchor="ctr">
            <a:normAutofit/>
          </a:bodyPr>
          <a:lstStyle/>
          <a:p>
            <a:pPr indent="0" marL="0">
              <a:buNone/>
            </a:pPr>
            <a:r>
              <a:rPr lang="en-US" sz="2200" b="1" dirty="0">
                <a:solidFill>
                  <a:srgbClr val="A99CF0"/>
                </a:solidFill>
                <a:latin typeface="Calibri" pitchFamily="34" charset="0"/>
                <a:ea typeface="Calibri" pitchFamily="34" charset="-122"/>
                <a:cs typeface="Calibri" pitchFamily="34" charset="-120"/>
              </a:rPr>
              <a:t>La continuidad ya no depende de un solo lugar</a:t>
            </a:r>
            <a:endParaRPr lang="en-US" sz="2200" dirty="0"/>
          </a:p>
        </p:txBody>
      </p:sp>
      <p:sp>
        <p:nvSpPr>
          <p:cNvPr id="19" name="Text 17"/>
          <p:cNvSpPr txBox="1"/>
          <p:nvPr/>
        </p:nvSpPr>
        <p:spPr>
          <a:xfrm>
            <a:off x="1371600" y="5212080"/>
            <a:ext cx="10241280" cy="594360"/>
          </a:xfrm>
          <a:prstGeom prst="rect">
            <a:avLst/>
          </a:prstGeom>
          <a:noFill/>
          <a:ln/>
        </p:spPr>
        <p:txBody>
          <a:bodyPr wrap="square" lIns="0" tIns="0" rIns="0" bIns="0" rtlCol="0" anchor="t">
            <a:normAutofit/>
          </a:bodyPr>
          <a:lstStyle/>
          <a:p>
            <a:pPr indent="0" marL="0">
              <a:buNone/>
            </a:pPr>
            <a:r>
              <a:rPr lang="en-US" sz="1700" dirty="0">
                <a:solidFill>
                  <a:srgbClr val="E8F1F2"/>
                </a:solidFill>
                <a:latin typeface="Calibri" pitchFamily="34" charset="0"/>
                <a:ea typeface="Calibri" pitchFamily="34" charset="-122"/>
                <a:cs typeface="Calibri" pitchFamily="34" charset="-120"/>
              </a:rPr>
              <a:t>Regla 3-2-1 cumplida: tres copias, en dos medios, una fuera del propio equipo, todas ensayadas.</a:t>
            </a:r>
            <a:endParaRPr lang="en-US" sz="1700" dirty="0"/>
          </a:p>
        </p:txBody>
      </p:sp>
      <p:sp>
        <p:nvSpPr>
          <p:cNvPr id="20" name="Shape 18"/>
          <p:cNvSpPr/>
          <p:nvPr/>
        </p:nvSpPr>
        <p:spPr>
          <a:xfrm>
            <a:off x="457200" y="6035040"/>
            <a:ext cx="11274552" cy="475488"/>
          </a:xfrm>
          <a:prstGeom prst="roundRect">
            <a:avLst>
              <a:gd name="adj" fmla="val 23077"/>
            </a:avLst>
          </a:prstGeom>
          <a:solidFill>
            <a:srgbClr val="20343F"/>
          </a:solidFill>
          <a:ln w="12700">
            <a:solidFill>
              <a:srgbClr val="3D5C69"/>
            </a:solidFill>
            <a:prstDash val="solid"/>
          </a:ln>
        </p:spPr>
      </p:sp>
      <p:sp>
        <p:nvSpPr>
          <p:cNvPr id="21" name="Text 19"/>
          <p:cNvSpPr txBox="1"/>
          <p:nvPr/>
        </p:nvSpPr>
        <p:spPr>
          <a:xfrm>
            <a:off x="640080" y="6035040"/>
            <a:ext cx="10881360" cy="475488"/>
          </a:xfrm>
          <a:prstGeom prst="rect">
            <a:avLst/>
          </a:prstGeom>
          <a:noFill/>
          <a:ln/>
        </p:spPr>
        <p:txBody>
          <a:bodyPr wrap="square" lIns="0" tIns="0" rIns="0" bIns="0" rtlCol="0" anchor="ctr">
            <a:normAutofit/>
          </a:bodyPr>
          <a:lstStyle/>
          <a:p>
            <a:pPr indent="0" marL="0">
              <a:buNone/>
            </a:pPr>
            <a:r>
              <a:rPr lang="en-US" sz="1600" dirty="0">
                <a:solidFill>
                  <a:srgbClr val="8EE6B8"/>
                </a:solidFill>
                <a:latin typeface="Calibri" pitchFamily="34" charset="0"/>
                <a:ea typeface="Calibri" pitchFamily="34" charset="-122"/>
                <a:cs typeface="Calibri" pitchFamily="34" charset="-120"/>
              </a:rPr>
              <a:t>Del problema real de CHIC a una infraestructura de continuidad probada, con evidencia de punta a punta</a:t>
            </a:r>
            <a:endParaRPr lang="en-US" sz="1600" dirty="0"/>
          </a:p>
        </p:txBody>
      </p:sp>
      <p:sp>
        <p:nvSpPr>
          <p:cNvPr id="25" name="Slide Number Placeholder 0"/>
          <p:cNvSpPr>
            <a:spLocks noGrp="1"/>
          </p:cNvSpPr>
          <p:nvPr>
            <p:ph type="sldNum" sz="quarter" idx="4294967295"/>
          </p:nvPr>
        </p:nvSpPr>
        <p:spPr>
          <a:xfrm>
            <a:off x="11155680" y="6556248"/>
            <a:ext cx="576072"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9DB2BA"/>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82A34"/>
        </a:solidFill>
      </p:bgPr>
    </p:bg>
    <p:spTree>
      <p:nvGrpSpPr>
        <p:cNvPr id="1" name=""/>
        <p:cNvGrpSpPr/>
        <p:nvPr/>
      </p:nvGrpSpPr>
      <p:grpSpPr>
        <a:xfrm>
          <a:off x="0" y="0"/>
          <a:ext cx="0" cy="0"/>
          <a:chOff x="0" y="0"/>
          <a:chExt cx="0" cy="0"/>
        </a:xfrm>
      </p:grpSpPr>
      <p:sp>
        <p:nvSpPr>
          <p:cNvPr id="2" name="Shape 0"/>
          <p:cNvSpPr/>
          <p:nvPr/>
        </p:nvSpPr>
        <p:spPr>
          <a:xfrm>
            <a:off x="822960" y="2011680"/>
            <a:ext cx="2377440" cy="2377440"/>
          </a:xfrm>
          <a:prstGeom prst="ellipse">
            <a:avLst/>
          </a:prstGeom>
          <a:solidFill>
            <a:srgbClr val="20343F"/>
          </a:solidFill>
          <a:ln w="50800">
            <a:solidFill>
              <a:srgbClr val="5FD3C8"/>
            </a:solidFill>
            <a:prstDash val="solid"/>
          </a:ln>
        </p:spPr>
      </p:sp>
      <p:sp>
        <p:nvSpPr>
          <p:cNvPr id="3" name="Text 1"/>
          <p:cNvSpPr txBox="1"/>
          <p:nvPr/>
        </p:nvSpPr>
        <p:spPr>
          <a:xfrm>
            <a:off x="822960" y="2011680"/>
            <a:ext cx="2377440" cy="2377440"/>
          </a:xfrm>
          <a:prstGeom prst="rect">
            <a:avLst/>
          </a:prstGeom>
          <a:noFill/>
          <a:ln/>
        </p:spPr>
        <p:txBody>
          <a:bodyPr wrap="square" lIns="0" tIns="0" rIns="0" bIns="0" rtlCol="0" anchor="ctr"/>
          <a:lstStyle/>
          <a:p>
            <a:pPr algn="ctr" indent="0" marL="0">
              <a:buNone/>
            </a:pPr>
            <a:r>
              <a:rPr lang="en-US" sz="11000" b="1" dirty="0">
                <a:solidFill>
                  <a:srgbClr val="5FD3C8"/>
                </a:solidFill>
                <a:latin typeface="Calibri" pitchFamily="34" charset="0"/>
                <a:ea typeface="Calibri" pitchFamily="34" charset="-122"/>
                <a:cs typeface="Calibri" pitchFamily="34" charset="-120"/>
              </a:rPr>
              <a:t>?</a:t>
            </a:r>
            <a:endParaRPr lang="en-US" sz="11000" dirty="0"/>
          </a:p>
        </p:txBody>
      </p:sp>
      <p:sp>
        <p:nvSpPr>
          <p:cNvPr id="4" name="Text 2"/>
          <p:cNvSpPr txBox="1"/>
          <p:nvPr/>
        </p:nvSpPr>
        <p:spPr>
          <a:xfrm>
            <a:off x="3749040" y="1828800"/>
            <a:ext cx="7772400" cy="1097280"/>
          </a:xfrm>
          <a:prstGeom prst="rect">
            <a:avLst/>
          </a:prstGeom>
          <a:noFill/>
          <a:ln/>
        </p:spPr>
        <p:txBody>
          <a:bodyPr wrap="square" lIns="0" tIns="0" rIns="0" bIns="0" rtlCol="0" anchor="ctr"/>
          <a:lstStyle/>
          <a:p>
            <a:pPr indent="0" marL="0">
              <a:buNone/>
            </a:pPr>
            <a:r>
              <a:rPr lang="en-US" sz="5400" b="1" dirty="0">
                <a:solidFill>
                  <a:srgbClr val="E8F1F2"/>
                </a:solidFill>
                <a:latin typeface="Calibri" pitchFamily="34" charset="0"/>
                <a:ea typeface="Calibri" pitchFamily="34" charset="-122"/>
                <a:cs typeface="Calibri" pitchFamily="34" charset="-120"/>
              </a:rPr>
              <a:t>Gracias</a:t>
            </a:r>
            <a:endParaRPr lang="en-US" sz="5400" dirty="0"/>
          </a:p>
        </p:txBody>
      </p:sp>
      <p:sp>
        <p:nvSpPr>
          <p:cNvPr id="5" name="Text 3"/>
          <p:cNvSpPr txBox="1"/>
          <p:nvPr/>
        </p:nvSpPr>
        <p:spPr>
          <a:xfrm>
            <a:off x="3749040" y="2926080"/>
            <a:ext cx="7772400" cy="731520"/>
          </a:xfrm>
          <a:prstGeom prst="rect">
            <a:avLst/>
          </a:prstGeom>
          <a:noFill/>
          <a:ln/>
        </p:spPr>
        <p:txBody>
          <a:bodyPr wrap="square" lIns="0" tIns="0" rIns="0" bIns="0" rtlCol="0" anchor="ctr"/>
          <a:lstStyle/>
          <a:p>
            <a:pPr indent="0" marL="0">
              <a:buNone/>
            </a:pPr>
            <a:r>
              <a:rPr lang="en-US" sz="3000" dirty="0">
                <a:solidFill>
                  <a:srgbClr val="8EE6B8"/>
                </a:solidFill>
                <a:latin typeface="Calibri" pitchFamily="34" charset="0"/>
                <a:ea typeface="Calibri" pitchFamily="34" charset="-122"/>
                <a:cs typeface="Calibri" pitchFamily="34" charset="-120"/>
              </a:rPr>
              <a:t>¿Preguntas?</a:t>
            </a:r>
            <a:endParaRPr lang="en-US" sz="3000" dirty="0"/>
          </a:p>
        </p:txBody>
      </p:sp>
      <p:sp>
        <p:nvSpPr>
          <p:cNvPr id="6" name="Text 4"/>
          <p:cNvSpPr txBox="1"/>
          <p:nvPr/>
        </p:nvSpPr>
        <p:spPr>
          <a:xfrm>
            <a:off x="3749040" y="4114800"/>
            <a:ext cx="7772400" cy="914400"/>
          </a:xfrm>
          <a:prstGeom prst="rect">
            <a:avLst/>
          </a:prstGeom>
          <a:noFill/>
          <a:ln/>
        </p:spPr>
        <p:txBody>
          <a:bodyPr wrap="square" lIns="0" tIns="0" rIns="0" bIns="0" rtlCol="0" anchor="t"/>
          <a:lstStyle/>
          <a:p>
            <a:pPr indent="0" marL="0">
              <a:buNone/>
            </a:pPr>
            <a:r>
              <a:rPr lang="en-US" sz="1800" b="1" dirty="0">
                <a:solidFill>
                  <a:srgbClr val="F2B35A"/>
                </a:solidFill>
                <a:latin typeface="Calibri" pitchFamily="34" charset="0"/>
                <a:ea typeface="Calibri" pitchFamily="34" charset="-122"/>
                <a:cs typeface="Calibri" pitchFamily="34" charset="-120"/>
              </a:rPr>
              <a:t>Se puede mostrar en vivo: </a:t>
            </a:r>
            <a:pPr indent="0" marL="0">
              <a:buNone/>
            </a:pPr>
            <a:r>
              <a:rPr lang="en-US" sz="1800" dirty="0">
                <a:solidFill>
                  <a:srgbClr val="E8F1F2"/>
                </a:solidFill>
                <a:latin typeface="Calibri" pitchFamily="34" charset="0"/>
                <a:ea typeface="Calibri" pitchFamily="34" charset="-122"/>
                <a:cs typeface="Calibri" pitchFamily="34" charset="-120"/>
              </a:rPr>
              <a:t>el sistema con candado, el panel de monitoreo, el bucket de la nube y una recuperación automática.</a:t>
            </a:r>
            <a:endParaRPr lang="en-US" sz="1800" dirty="0"/>
          </a:p>
        </p:txBody>
      </p:sp>
      <p:sp>
        <p:nvSpPr>
          <p:cNvPr id="7" name="Text 5"/>
          <p:cNvSpPr txBox="1"/>
          <p:nvPr/>
        </p:nvSpPr>
        <p:spPr>
          <a:xfrm>
            <a:off x="3749040" y="5669280"/>
            <a:ext cx="7772400" cy="365760"/>
          </a:xfrm>
          <a:prstGeom prst="rect">
            <a:avLst/>
          </a:prstGeom>
          <a:noFill/>
          <a:ln/>
        </p:spPr>
        <p:txBody>
          <a:bodyPr wrap="square" lIns="0" tIns="0" rIns="0" bIns="0" rtlCol="0" anchor="ctr"/>
          <a:lstStyle/>
          <a:p>
            <a:pPr indent="0" marL="0">
              <a:buNone/>
            </a:pPr>
            <a:r>
              <a:rPr lang="en-US" sz="1400" dirty="0">
                <a:solidFill>
                  <a:srgbClr val="9DB2BA"/>
                </a:solidFill>
                <a:latin typeface="Calibri" pitchFamily="34" charset="0"/>
                <a:ea typeface="Calibri" pitchFamily="34" charset="-122"/>
                <a:cs typeface="Calibri" pitchFamily="34" charset="-120"/>
              </a:rPr>
              <a:t>César Manríquez Figueroa · arkno1820@gmail.com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 virtualización y continuidad en la nube — CRM CHIC</dc:title>
  <dc:subject>PptxGenJS Presentation</dc:subject>
  <dc:creator>César Manríquez Figueroa</dc:creator>
  <cp:lastModifiedBy>César Manríquez Figueroa</cp:lastModifiedBy>
  <cp:revision>1</cp:revision>
  <dcterms:created xsi:type="dcterms:W3CDTF">2026-09-27T23:27:41Z</dcterms:created>
  <dcterms:modified xsi:type="dcterms:W3CDTF">2026-09-27T23:27:41Z</dcterms:modified>
</cp:coreProperties>
</file>